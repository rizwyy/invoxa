
<file path=[Content_Types].xml><?xml version="1.0" encoding="utf-8"?>
<Types xmlns="http://schemas.openxmlformats.org/package/2006/content-types">
  <Default Extension="xml" ContentType="application/vnd.openxmlformats-package.core-properties+xml"/>
  <Default Extension="dat" ContentType="application/x-fontdata"/>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9a2b2feecf8646b5" /><Relationship Type="http://schemas.openxmlformats.org/officeDocument/2006/relationships/extended-properties" Target="/docProps/app.xml" Id="Rc5683151cd23421a" /><Relationship Type="http://schemas.openxmlformats.org/officeDocument/2006/relationships/officeDocument" Target="/ppt/presentation.xml" Id="R32528f1ff2d8414c"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3b6cf564e450457f"/>
  </p:sldMasterIdLst>
  <p:notesMasterIdLst>
    <p:notesMasterId xmlns:r="http://schemas.openxmlformats.org/officeDocument/2006/relationships" r:id="R58b3d2c62d2447f8"/>
  </p:notesMasterIdLst>
  <p:sldIdLst>
    <p:sldId xmlns:r="http://schemas.openxmlformats.org/officeDocument/2006/relationships" id="256" r:id="R257cd4f7ec334d0e"/>
    <p:sldId xmlns:r="http://schemas.openxmlformats.org/officeDocument/2006/relationships" id="257" r:id="R4adf90a6228449c0"/>
    <p:sldId xmlns:r="http://schemas.openxmlformats.org/officeDocument/2006/relationships" id="258" r:id="Rb104d7d14ca34ee6"/>
    <p:sldId xmlns:r="http://schemas.openxmlformats.org/officeDocument/2006/relationships" id="259" r:id="Rd8a967a2da5d4d45"/>
    <p:sldId xmlns:r="http://schemas.openxmlformats.org/officeDocument/2006/relationships" id="260" r:id="Re12e3b136c364e33"/>
    <p:sldId xmlns:r="http://schemas.openxmlformats.org/officeDocument/2006/relationships" id="261" r:id="R0649cf52108748eb"/>
    <p:sldId xmlns:r="http://schemas.openxmlformats.org/officeDocument/2006/relationships" id="262" r:id="R41cc2c38e6314385"/>
    <p:sldId xmlns:r="http://schemas.openxmlformats.org/officeDocument/2006/relationships" id="263" r:id="Rb1b8a2b672384e2b"/>
    <p:sldId xmlns:r="http://schemas.openxmlformats.org/officeDocument/2006/relationships" id="264" r:id="R27c7cb5fede24e1c"/>
    <p:sldId xmlns:r="http://schemas.openxmlformats.org/officeDocument/2006/relationships" id="265" r:id="Ra843680953c44dde"/>
    <p:sldId xmlns:r="http://schemas.openxmlformats.org/officeDocument/2006/relationships" id="266" r:id="R13497c7b2a0043ba"/>
    <p:sldId xmlns:r="http://schemas.openxmlformats.org/officeDocument/2006/relationships" id="267" r:id="Rd6d84b8350504abc"/>
    <p:sldId xmlns:r="http://schemas.openxmlformats.org/officeDocument/2006/relationships" id="268" r:id="Rdc33b9a057504be9"/>
    <p:sldId xmlns:r="http://schemas.openxmlformats.org/officeDocument/2006/relationships" id="269" r:id="R029d6b66a9724bd6"/>
    <p:sldId xmlns:r="http://schemas.openxmlformats.org/officeDocument/2006/relationships" id="270" r:id="Rd8a5f661c41d4f99"/>
  </p:sldIdLst>
  <p:sldSz cx="12192000" cy="6858000"/>
  <p:notesSz cx="6858000" cy="9144000"/>
  <p:embeddedFontLst>
    <p:embeddedFont>
      <p:font typeface="OpenAI Sans"/>
      <p:regular xmlns:r="http://schemas.openxmlformats.org/officeDocument/2006/relationships" r:id="R0250a4c2a8c240ad"/>
      <p:bold xmlns:r="http://schemas.openxmlformats.org/officeDocument/2006/relationships" r:id="R413a17de579a45db"/>
      <p:italic xmlns:r="http://schemas.openxmlformats.org/officeDocument/2006/relationships" r:id="R30fdff0c4ba94d32"/>
      <p:boldItalic xmlns:r="http://schemas.openxmlformats.org/officeDocument/2006/relationships" r:id="R32cb94bbbe2b4be7"/>
    </p:embeddedFont>
  </p:embeddedFontLst>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0ef6287ec83b4704" /><Relationship Type="http://schemas.openxmlformats.org/officeDocument/2006/relationships/slideMaster" Target="/ppt/slideMasters/slideMaster1.xml" Id="R3b6cf564e450457f" /><Relationship Type="http://schemas.openxmlformats.org/officeDocument/2006/relationships/notesMaster" Target="/ppt/notesMasters/notesMaster1.xml" Id="R58b3d2c62d2447f8" /><Relationship Type="http://schemas.openxmlformats.org/officeDocument/2006/relationships/presProps" Target="/ppt/presProps.xml" Id="R34bf26b57b8d484b" /><Relationship Type="http://schemas.openxmlformats.org/officeDocument/2006/relationships/viewProps" Target="/ppt/viewProps.xml" Id="Rc2a9dca78c6e4091" /><Relationship Type="http://schemas.openxmlformats.org/officeDocument/2006/relationships/tableStyles" Target="/ppt/tableStyles.xml" Id="R0d86e8663c54446f" /><Relationship Type="http://schemas.openxmlformats.org/officeDocument/2006/relationships/font" Target="/ppt/fonts/font.dat" Id="R0250a4c2a8c240ad" /><Relationship Type="http://schemas.openxmlformats.org/officeDocument/2006/relationships/font" Target="/ppt/fonts/font2.dat" Id="R413a17de579a45db" /><Relationship Type="http://schemas.openxmlformats.org/officeDocument/2006/relationships/font" Target="/ppt/fonts/font3.dat" Id="R30fdff0c4ba94d32" /><Relationship Type="http://schemas.openxmlformats.org/officeDocument/2006/relationships/font" Target="/ppt/fonts/font4.dat" Id="R32cb94bbbe2b4be7" /><Relationship Type="http://schemas.openxmlformats.org/officeDocument/2006/relationships/slide" Target="/ppt/slides/slide1.xml" Id="R257cd4f7ec334d0e" /><Relationship Type="http://schemas.openxmlformats.org/officeDocument/2006/relationships/slide" Target="/ppt/slides/slide2.xml" Id="R4adf90a6228449c0" /><Relationship Type="http://schemas.openxmlformats.org/officeDocument/2006/relationships/slide" Target="/ppt/slides/slide3.xml" Id="Rb104d7d14ca34ee6" /><Relationship Type="http://schemas.openxmlformats.org/officeDocument/2006/relationships/slide" Target="/ppt/slides/slide4.xml" Id="Rd8a967a2da5d4d45" /><Relationship Type="http://schemas.openxmlformats.org/officeDocument/2006/relationships/slide" Target="/ppt/slides/slide5.xml" Id="Re12e3b136c364e33" /><Relationship Type="http://schemas.openxmlformats.org/officeDocument/2006/relationships/slide" Target="/ppt/slides/slide6.xml" Id="R0649cf52108748eb" /><Relationship Type="http://schemas.openxmlformats.org/officeDocument/2006/relationships/slide" Target="/ppt/slides/slide7.xml" Id="R41cc2c38e6314385" /><Relationship Type="http://schemas.openxmlformats.org/officeDocument/2006/relationships/slide" Target="/ppt/slides/slide8.xml" Id="Rb1b8a2b672384e2b" /><Relationship Type="http://schemas.openxmlformats.org/officeDocument/2006/relationships/slide" Target="/ppt/slides/slide9.xml" Id="R27c7cb5fede24e1c" /><Relationship Type="http://schemas.openxmlformats.org/officeDocument/2006/relationships/slide" Target="/ppt/slides/slide10.xml" Id="Ra843680953c44dde" /><Relationship Type="http://schemas.openxmlformats.org/officeDocument/2006/relationships/slide" Target="/ppt/slides/slide11.xml" Id="R13497c7b2a0043ba" /><Relationship Type="http://schemas.openxmlformats.org/officeDocument/2006/relationships/slide" Target="/ppt/slides/slide12.xml" Id="Rd6d84b8350504abc" /><Relationship Type="http://schemas.openxmlformats.org/officeDocument/2006/relationships/slide" Target="/ppt/slides/slide13.xml" Id="Rdc33b9a057504be9" /><Relationship Type="http://schemas.openxmlformats.org/officeDocument/2006/relationships/slide" Target="/ppt/slides/slide14.xml" Id="R029d6b66a9724bd6" /><Relationship Type="http://schemas.openxmlformats.org/officeDocument/2006/relationships/slide" Target="/ppt/slides/slide15.xml" Id="Rd8a5f661c41d4f9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cfcddd870e424a"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ff95d1d77c44ca5" /><Relationship Type="http://schemas.openxmlformats.org/officeDocument/2006/relationships/notesMaster" Target="/ppt/notesMasters/notesMaster1.xml" Id="R6065c8ef4f3a46d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b91981b116d4936" /><Relationship Type="http://schemas.openxmlformats.org/officeDocument/2006/relationships/notesMaster" Target="/ppt/notesMasters/notesMaster1.xml" Id="R1acf818adc9e421f" /></Relationships>
</file>

<file path=ppt/notesSlides/_rels/notesSlide3.xml.rels>&#65279;<?xml version="1.0" encoding="utf-8"?><Relationships xmlns="http://schemas.openxmlformats.org/package/2006/relationships"><Relationship Type="http://schemas.openxmlformats.org/officeDocument/2006/relationships/slide" Target="/ppt/slides/slide3.xml" Id="R8659eeb16f2a4434" /><Relationship Type="http://schemas.openxmlformats.org/officeDocument/2006/relationships/notesMaster" Target="/ppt/notesMasters/notesMaster1.xml" Id="Rbb4c9e6015204411" /></Relationships>
</file>

<file path=ppt/notesSlides/_rels/notesSlide4.xml.rels>&#65279;<?xml version="1.0" encoding="utf-8"?><Relationships xmlns="http://schemas.openxmlformats.org/package/2006/relationships"><Relationship Type="http://schemas.openxmlformats.org/officeDocument/2006/relationships/slide" Target="/ppt/slides/slide4.xml" Id="R481163833f4246a9" /><Relationship Type="http://schemas.openxmlformats.org/officeDocument/2006/relationships/notesMaster" Target="/ppt/notesMasters/notesMaster1.xml" Id="Rc88cab3de7044ff4" /></Relationships>
</file>

<file path=ppt/notesSlides/_rels/notesSlide5.xml.rels>&#65279;<?xml version="1.0" encoding="utf-8"?><Relationships xmlns="http://schemas.openxmlformats.org/package/2006/relationships"><Relationship Type="http://schemas.openxmlformats.org/officeDocument/2006/relationships/slide" Target="/ppt/slides/slide5.xml" Id="Rc3d8ec6f181d4de4" /><Relationship Type="http://schemas.openxmlformats.org/officeDocument/2006/relationships/notesMaster" Target="/ppt/notesMasters/notesMaster1.xml" Id="Rc79e4d8510cd4410" /></Relationships>
</file>

<file path=ppt/notesSlides/_rels/notesSlide6.xml.rels>&#65279;<?xml version="1.0" encoding="utf-8"?><Relationships xmlns="http://schemas.openxmlformats.org/package/2006/relationships"><Relationship Type="http://schemas.openxmlformats.org/officeDocument/2006/relationships/slide" Target="/ppt/slides/slide6.xml" Id="R92b72fb588a848a1" /><Relationship Type="http://schemas.openxmlformats.org/officeDocument/2006/relationships/notesMaster" Target="/ppt/notesMasters/notesMaster1.xml" Id="R0f74cf0539724faa"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04d3f7c2b045d7" /><Relationship Type="http://schemas.openxmlformats.org/officeDocument/2006/relationships/notesMaster" Target="/ppt/notesMasters/notesMaster1.xml" Id="R259400e4b6224c2b" /></Relationships>
</file>

<file path=ppt/notesSlides/_rels/notesSlide8.xml.rels>&#65279;<?xml version="1.0" encoding="utf-8"?><Relationships xmlns="http://schemas.openxmlformats.org/package/2006/relationships"><Relationship Type="http://schemas.openxmlformats.org/officeDocument/2006/relationships/slide" Target="/ppt/slides/slide8.xml" Id="R01527961623b4227" /><Relationship Type="http://schemas.openxmlformats.org/officeDocument/2006/relationships/notesMaster" Target="/ppt/notesMasters/notesMaster1.xml" Id="R5bc52c0735704a52" /></Relationships>
</file>

<file path=ppt/notesSlides/_rels/notesSlide9.xml.rels>&#65279;<?xml version="1.0" encoding="utf-8"?><Relationships xmlns="http://schemas.openxmlformats.org/package/2006/relationships"><Relationship Type="http://schemas.openxmlformats.org/officeDocument/2006/relationships/slide" Target="/ppt/slides/slide9.xml" Id="Rcff84e5396f94a65" /><Relationship Type="http://schemas.openxmlformats.org/officeDocument/2006/relationships/notesMaster" Target="/ppt/notesMasters/notesMaster1.xml" Id="R89d0e59e79aa4f2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0b76dc84c894a0c" /><Relationship Type="http://schemas.openxmlformats.org/officeDocument/2006/relationships/notesMaster" Target="/ppt/notesMasters/notesMaster1.xml" Id="Re9f573fbc5c24b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8041ef9a24b4a47" /><Relationship Type="http://schemas.openxmlformats.org/officeDocument/2006/relationships/notesMaster" Target="/ppt/notesMasters/notesMaster1.xml" Id="Re61a6e6ccd294f6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6e48cc2730b4b2b" /><Relationship Type="http://schemas.openxmlformats.org/officeDocument/2006/relationships/notesMaster" Target="/ppt/notesMasters/notesMaster1.xml" Id="R2407baddb6f949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60ecca48c12424e" /><Relationship Type="http://schemas.openxmlformats.org/officeDocument/2006/relationships/notesMaster" Target="/ppt/notesMasters/notesMaster1.xml" Id="R4e02ae61e3c0471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656799065f649b8" /><Relationship Type="http://schemas.openxmlformats.org/officeDocument/2006/relationships/notesMaster" Target="/ppt/notesMasters/notesMaster1.xml" Id="R68fdd97d0a4047c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f389fa0af404067" /><Relationship Type="http://schemas.openxmlformats.org/officeDocument/2006/relationships/notesMaster" Target="/ppt/notesMasters/notesMaster1.xml" Id="R0e38d0fe924443e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Opening, 20 seconds: We are exploring three ways AI could do useful work for businesses. These are proposed products. We have researched competitors, but we have not yet validated customer demand or built these capabilities. Today we should choose the idea we can test with real customers.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35 seconds. An estimator is the person who prepares the price for a manufacturing job. A contractor performs work such as electrical installation or interiors. A technician inspects and repairs equipment. All examples are illustrative. The common hypothesis is that AI can turn scattered information into a useful draft, which the responsible employee checks.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Explain that a quotation is the price a business offers before accepting an order. We are proposing to start with one process, such as sheet-metal fabrication. The scenario is hypothetical, not an observed customer case. We need actual past quotation packages to determine how often revision mistakes happen and what they cost.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Proposed capability, not a functioning demonstration. AI document reading extracts information from text and images. Search over approved past jobs finds useful comparisons. Every important field should link to its source. Begin with explicitly stated fields; interpreting complex tolerances and geometry requires separate validation. A human sets the final price.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Existing products establish the category, not our right to win. Paperless Parts describes manufacturing quotation and preparation workflows [sources below]. Recruit through fabrication-shop owners or industrial suppliers. A paid pilot should cover a capped number of documents. Proceed only if customers share usable data, preparation gets faster without critical omissions, and at least two shops pay. Do not build a pricing engine, full ERP or CAD cost estimator initially. Processing and onboarding costs must be measured.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Paperless Parts: product and quotation workflow</a:t>
            </a:r>
            <a:endParaRPr/>
          </a:p>
          <a:p xmlns:a="http://schemas.openxmlformats.org/drawingml/2006/main">
            <a:pPr marL="0" lvl="0" indent="0" algn="l">
              <a:spcBef>
                <a:spcPts val="0"/>
              </a:spcBef>
              <a:spcAft>
                <a:spcPts val="0"/>
              </a:spcAft>
              <a:buNone/>
            </a:pPr>
            <a:r>
              <a:t>https://www.paperlessparts.com/facts/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Paperless Parts: quote preparation example</a:t>
            </a:r>
            <a:endParaRPr/>
          </a:p>
          <a:p xmlns:a="http://schemas.openxmlformats.org/drawingml/2006/main">
            <a:pPr marL="0" lvl="0" indent="0" algn="l">
              <a:spcBef>
                <a:spcPts val="0"/>
              </a:spcBef>
              <a:spcAft>
                <a:spcPts val="0"/>
              </a:spcAft>
              <a:buNone/>
            </a:pPr>
            <a:r>
              <a:t>https://www.paperlessparts.com/wp-content/uploads/quote-setup-solution-brief.pdf</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This is an illustrative scenario. Extra work means a change from the original agreed scope. A photo can show that work happened, but it does not by itself prove a customer approved the price. That distinction is the core of the proposed product. Ask contractors to show recent changes and their actual approval process.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Voice recognition turns the supervisor’s description into text. AI compares that text with the quoted scope and organizes the supporting records. It should say possible extra work when the agreement is ambiguous. Photos cannot reliably prove exact quantities or authorization. The customer approves the scope and price, and the contractor reviews the record. No automatic claim of legal enforceability or guaranteed payment.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Clearstory offers dedicated change-order workflows, and Powerplay covers construction contract management. Neither absence of competition nor a new market has been established. The proposed wedge is easier capture from everyday site communications for a narrow contractor segment. First test whether the person paying for the construction work will actually accept the approval record. Stop if refusal to approve dominates or an existing product solves it easily. Exclude a full construction platform.</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Clearstory: construction change management</a:t>
            </a:r>
            <a:endParaRPr/>
          </a:p>
          <a:p xmlns:a="http://schemas.openxmlformats.org/drawingml/2006/main">
            <a:pPr marL="0" lvl="0" indent="0" algn="l">
              <a:spcBef>
                <a:spcPts val="0"/>
              </a:spcBef>
              <a:spcAft>
                <a:spcPts val="0"/>
              </a:spcAft>
              <a:buNone/>
            </a:pPr>
            <a:r>
              <a:t>https://www.clearstory.build/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Powerplay: construction contract management</a:t>
            </a:r>
            <a:endParaRPr/>
          </a:p>
          <a:p xmlns:a="http://schemas.openxmlformats.org/drawingml/2006/main">
            <a:pPr marL="0" lvl="0" indent="0" algn="l">
              <a:spcBef>
                <a:spcPts val="0"/>
              </a:spcBef>
              <a:spcAft>
                <a:spcPts val="0"/>
              </a:spcAft>
              <a:buNone/>
            </a:pPr>
            <a:r>
              <a:t>https://www.getpowerplay.in/construction-contract-management-software/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40 seconds. This is a proposed workflow. The first product is information retrieval and documentation support. Reliable diagnosis from arbitrary sounds and videos is a much harder research task. We should not promise that capability before collecting labeled examples and testing it with qualified technicians.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The page number here is hypothetical. No real repair advice is being provided. Recognizing a model label and retrieving the correct manual is a bounded starting task. Never treat a fluent answer as a correct diagnosis. Escalate when the model or applicable instructions are uncertain. Sound-based fault classification and video interpretation are possible later experiments, not initial promised features.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XOi advertises equipment identification, manuals and guided workflows. MaintainX describes assistance grounded in uploaded maintenance documents. This directly weakens any claim that a manual-search assistant is new. Recruit a service-company partner with permission to use manuals and historical records. Compare retrieval time and source correctness. A paid follow-on pilot is necessary to assess willingness to pay. Stop if expert review remains too costly or the correct manuals cannot be accessed.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XOi: equipment information and guided field workflows</a:t>
            </a:r>
            <a:endParaRPr/>
          </a:p>
          <a:p xmlns:a="http://schemas.openxmlformats.org/drawingml/2006/main">
            <a:pPr marL="0" lvl="0" indent="0" algn="l">
              <a:spcBef>
                <a:spcPts val="0"/>
              </a:spcBef>
              <a:spcAft>
                <a:spcPts val="0"/>
              </a:spcAft>
              <a:buNone/>
            </a:pPr>
            <a:r>
              <a:t>https://xoi.io/the-xoi-data-advantage/jobsite-workflow-management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MaintainX: document-grounded maintenance assistance</a:t>
            </a:r>
            <a:endParaRPr/>
          </a:p>
          <a:p xmlns:a="http://schemas.openxmlformats.org/drawingml/2006/main">
            <a:pPr marL="0" lvl="0" indent="0" algn="l">
              <a:spcBef>
                <a:spcPts val="0"/>
              </a:spcBef>
              <a:spcAft>
                <a:spcPts val="0"/>
              </a:spcAft>
              <a:buNone/>
            </a:pPr>
            <a:r>
              <a:t>https://www.getmaintainx.com/blog/maintainx-assist-ai-assistant-for-maintenance</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60 seconds. *Technician difficulty refers to manual retrieval only. Diagnosis from sound or video is high difficulty and excluded from the initial pilot. We withdrew earlier numerical scores because no interviews, paid commitments or benchmark results justify that level of precision. Construction has the clearest demonstration, but our business selection should follow customer access and payment evidence. No market size, revenue or traction is claimed.</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These are targets, not completed milestones. Interviews should ask about the last real incident, existing alternatives, frequency, financial impact and who controls the budget. Avoid asking only whether the idea sounds good. Pass criteria: two buyers pay, the pilot measurably improves the agreed workflow, and delivery costs leave a plausible margin. Modify or stop when access, repeat use or willingness to pay is absent. No automatic outreach or data collection has occurred.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45 seconds. Suggested closing: We propose testing an assistant that turns site requests into clear extra-work approval drafts. Our next goal is two paid pilots, not a large platform. If our strongest contacts are in manufacturing, we will instead test quotation preparation. We want peers to help identify a reachable customer and challenge the hardest assumption. This is an idea-selection presentation, not an investor deck claiming traction.</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0" lvl="0" indent="0" algn="l">
              <a:spcBef>
                <a:spcPts val="0"/>
              </a:spcBef>
              <a:spcAft>
                <a:spcPts val="0"/>
              </a:spcAft>
              <a:buNone/>
            </a:pPr>
            <a:r>
              <a:t>Sources reviewed during this research. Access date: 10 September 2026. Vendor pages establish advertised capabilities, not independent proof of effectiveness or demand for our proposed product. All price suggestions and examples in this deck are hypotheses or illustrations.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Paperless Parts: product and quotation workflow</a:t>
            </a:r>
            <a:endParaRPr/>
          </a:p>
          <a:p xmlns:a="http://schemas.openxmlformats.org/drawingml/2006/main">
            <a:pPr marL="0" lvl="0" indent="0" algn="l">
              <a:spcBef>
                <a:spcPts val="0"/>
              </a:spcBef>
              <a:spcAft>
                <a:spcPts val="0"/>
              </a:spcAft>
              <a:buNone/>
            </a:pPr>
            <a:r>
              <a:t>https://www.paperlessparts.com/facts/</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Paperless Parts: quote preparation example</a:t>
            </a:r>
            <a:endParaRPr/>
          </a:p>
          <a:p xmlns:a="http://schemas.openxmlformats.org/drawingml/2006/main">
            <a:pPr marL="0" lvl="0" indent="0" algn="l">
              <a:spcBef>
                <a:spcPts val="0"/>
              </a:spcBef>
              <a:spcAft>
                <a:spcPts val="0"/>
              </a:spcAft>
              <a:buNone/>
            </a:pPr>
            <a:r>
              <a:t>https://www.paperlessparts.com/wp-content/uploads/quote-setup-solution-brief.pdf</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Clearstory: construction change management</a:t>
            </a:r>
            <a:endParaRPr/>
          </a:p>
          <a:p xmlns:a="http://schemas.openxmlformats.org/drawingml/2006/main">
            <a:pPr marL="0" lvl="0" indent="0" algn="l">
              <a:spcBef>
                <a:spcPts val="0"/>
              </a:spcBef>
              <a:spcAft>
                <a:spcPts val="0"/>
              </a:spcAft>
              <a:buNone/>
            </a:pPr>
            <a:r>
              <a:t>https://www.clearstory.build/</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Powerplay: construction contract management</a:t>
            </a:r>
            <a:endParaRPr/>
          </a:p>
          <a:p xmlns:a="http://schemas.openxmlformats.org/drawingml/2006/main">
            <a:pPr marL="0" lvl="0" indent="0" algn="l">
              <a:spcBef>
                <a:spcPts val="0"/>
              </a:spcBef>
              <a:spcAft>
                <a:spcPts val="0"/>
              </a:spcAft>
              <a:buNone/>
            </a:pPr>
            <a:r>
              <a:t>https://www.getpowerplay.in/construction-contract-management-software/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XOi: equipment information and guided field workflows</a:t>
            </a:r>
            <a:endParaRPr/>
          </a:p>
          <a:p xmlns:a="http://schemas.openxmlformats.org/drawingml/2006/main">
            <a:pPr marL="0" lvl="0" indent="0" algn="l">
              <a:spcBef>
                <a:spcPts val="0"/>
              </a:spcBef>
              <a:spcAft>
                <a:spcPts val="0"/>
              </a:spcAft>
              <a:buNone/>
            </a:pPr>
            <a:r>
              <a:t>https://xoi.io/the-xoi-data-advantage/jobsite-workflow-management</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MaintainX: document-grounded maintenance assistance</a:t>
            </a:r>
            <a:endParaRPr/>
          </a:p>
          <a:p xmlns:a="http://schemas.openxmlformats.org/drawingml/2006/main">
            <a:pPr marL="0" lvl="0" indent="0" algn="l">
              <a:spcBef>
                <a:spcPts val="0"/>
              </a:spcBef>
              <a:spcAft>
                <a:spcPts val="0"/>
              </a:spcAft>
              <a:buNone/>
            </a:pPr>
            <a:r>
              <a:t>https://www.getmaintainx.com/blog/maintainx-assist-ai-assistant-for-maintenance</a:t>
            </a:r>
            <a:endParaRPr/>
          </a:p>
          <a:p xmlns:a="http://schemas.openxmlformats.org/drawingml/2006/main">
            <a:pPr marL="0" lvl="0" indent="0" algn="l">
              <a:spcBef>
                <a:spcPts val="0"/>
              </a:spcBef>
              <a:spcAft>
                <a:spcPts val="0"/>
              </a:spcAft>
              <a:buNone/>
            </a:pPr>
            <a:r>
              <a:t/>
            </a:r>
            <a:endParaRPr/>
          </a:p>
          <a:p xmlns:a="http://schemas.openxmlformats.org/drawingml/2006/main">
            <a:pPr marL="0" lvl="0" indent="0" algn="l">
              <a:spcBef>
                <a:spcPts val="0"/>
              </a:spcBef>
              <a:spcAft>
                <a:spcPts val="0"/>
              </a:spcAft>
              <a:buNone/>
            </a:pPr>
            <a:r>
              <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9c081837ec74a2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1b888da69a24bfb"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56cdf6fed44d3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f6bd44e718be4120"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d6e744f607b445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aaac17101034cec"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c4b901dac12344a6"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ffae6d3a2df4181" /></Relationships>
</file>

<file path=ppt/slideLayouts/slideLayout1.xml><?xml version="1.0" encoding="utf-8"?>
<p:sldLayout xmlns:p="http://schemas.openxmlformats.org/presentationml/2006/main" preserve="1" userDrawn="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83004A5-B645-655E-5362-4217D55892E1}"/>
              </a:ext>
            </a:extLst>
          </p:cNvPr>
          <p:cNvSpPr>
            <a:spLocks xmlns:a="http://schemas.openxmlformats.org/drawingml/2006/main" noGrp="1"/>
          </p:cNvSpPr>
          <p:nvPr>
            <p:ph type="ctrTitle" idx="0"/>
          </p:nvPr>
        </p:nvSpPr>
        <p:spPr>
          <a:xfrm xmlns:a="http://schemas.openxmlformats.org/drawingml/2006/main">
            <a:off x="393700" y="1041400"/>
            <a:ext cx="7493000" cy="2491490"/>
          </a:xfrm>
        </p:spPr>
        <p:txBody>
          <a:bodyPr xmlns:a="http://schemas.openxmlformats.org/drawingml/2006/main" anchor="b"/>
          <a:lstStyle xmlns:a="http://schemas.openxmlformats.org/drawingml/2006/main">
            <a:lvl1pPr algn="l">
              <a:buNone/>
              <a:defRPr sz="6000"/>
            </a:lvl1pPr>
          </a:lstStyle>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C57031B1-59B2-C235-9FDD-8050418A5FD8}"/>
              </a:ext>
            </a:extLst>
          </p:cNvPr>
          <p:cNvSpPr>
            <a:spLocks xmlns:a="http://schemas.openxmlformats.org/drawingml/2006/main" noGrp="1"/>
          </p:cNvSpPr>
          <p:nvPr>
            <p:ph type="subTitle" idx="1"/>
          </p:nvPr>
        </p:nvSpPr>
        <p:spPr>
          <a:xfrm xmlns:a="http://schemas.openxmlformats.org/drawingml/2006/main">
            <a:off x="393700" y="4356100"/>
            <a:ext cx="5537200" cy="1638300"/>
          </a:xfrm>
        </p:spPr>
        <p:txBody>
          <a:bodyPr xmlns:a="http://schemas.openxmlformats.org/drawingml/2006/main"/>
          <a:lstStyle xmlns:a="http://schemas.openxmlformats.org/drawingml/2006/main">
            <a:lvl1pPr marL="0" indent="0" algn="l">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r>
              <a:t>Click to edit Master subtitle style</a:t>
            </a:r>
          </a:p>
        </p:txBody>
      </p:sp>
    </p:spTree>
  </p:cSld>
</p:sldLayout>
</file>

<file path=ppt/slideLayouts/slideLayout2.xml><?xml version="1.0" encoding="utf-8"?>
<p:sldLayout xmlns:p="http://schemas.openxmlformats.org/presentationml/2006/main" preserve="1" userDrawn="1">
  <p:cSld name="Title and Content">
    <p:spTree>
      <p:nvGrpSpPr>
        <p:cNvPr id="1" name=""/>
        <p:cNvGrpSpPr/>
        <p:nvPr/>
      </p:nvGrpSpPr>
      <p:grpSpPr>
        <a:xfrm xmlns:a="http://schemas.openxmlformats.org/drawingml/2006/main"/>
      </p:grpSpPr>
      <p:sp>
        <p:nvSpPr>
          <p:cNvPr id="8" name="Text Placeholder 2">
            <a:extLst xmlns:a="http://schemas.openxmlformats.org/drawingml/2006/main">
              <a:ext uri="{FF2B5EF4-FFF2-40B4-BE49-F238E27FC236}">
                <a16:creationId xmlns:a16="http://schemas.microsoft.com/office/drawing/2014/main" id="{5E851FDE-9E0B-568C-1CBA-E72B86CC06ED}"/>
              </a:ext>
            </a:extLst>
          </p:cNvPr>
          <p:cNvSpPr>
            <a:spLocks xmlns:a="http://schemas.openxmlformats.org/drawingml/2006/main" noGrp="1"/>
          </p:cNvSpPr>
          <p:nvPr>
            <p:ph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 name="Footer Placeholder 4">
            <a:extLst xmlns:a="http://schemas.openxmlformats.org/drawingml/2006/main">
              <a:ext uri="{FF2B5EF4-FFF2-40B4-BE49-F238E27FC236}">
                <a16:creationId xmlns:a16="http://schemas.microsoft.com/office/drawing/2014/main" id="{29CCD18F-3BF6-A3EE-DAAE-66BD406D7E8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0" name="Slide Number Placeholder 5">
            <a:extLst xmlns:a="http://schemas.openxmlformats.org/drawingml/2006/main">
              <a:ext uri="{FF2B5EF4-FFF2-40B4-BE49-F238E27FC236}">
                <a16:creationId xmlns:a16="http://schemas.microsoft.com/office/drawing/2014/main" id="{5186992D-ADA6-5A23-EBD5-6BEF0A2E61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CDBB333F-FFCF-AA9E-7AC0-64DB02353FBC}"/>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3.xml><?xml version="1.0" encoding="utf-8"?>
<p:sldLayout xmlns:p="http://schemas.openxmlformats.org/presentationml/2006/main" preserve="1" userDrawn="1">
  <p:cSld name="Two Content">
    <p:spTree>
      <p:nvGrpSpPr>
        <p:cNvPr id="1" name=""/>
        <p:cNvGrpSpPr/>
        <p:nvPr/>
      </p:nvGrpSpPr>
      <p:grpSpPr>
        <a:xfrm xmlns:a="http://schemas.openxmlformats.org/drawingml/2006/main"/>
      </p:grpSpPr>
      <p:sp>
        <p:nvSpPr>
          <p:cNvPr id="9" name="Text Placeholder 2">
            <a:extLst xmlns:a="http://schemas.openxmlformats.org/drawingml/2006/main">
              <a:ext uri="{FF2B5EF4-FFF2-40B4-BE49-F238E27FC236}">
                <a16:creationId xmlns:a16="http://schemas.microsoft.com/office/drawing/2014/main" id="{4DCC3060-FADA-4310-30F9-24EC34B5AA87}"/>
              </a:ext>
            </a:extLst>
          </p:cNvPr>
          <p:cNvSpPr>
            <a:spLocks xmlns:a="http://schemas.openxmlformats.org/drawingml/2006/main" noGrp="1"/>
          </p:cNvSpPr>
          <p:nvPr>
            <p:ph idx="1"/>
          </p:nvPr>
        </p:nvSpPr>
        <p:spPr>
          <a:xfrm xmlns:a="http://schemas.openxmlformats.org/drawingml/2006/main">
            <a:off x="393700"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0" name="Footer Placeholder 4">
            <a:extLst xmlns:a="http://schemas.openxmlformats.org/drawingml/2006/main">
              <a:ext uri="{FF2B5EF4-FFF2-40B4-BE49-F238E27FC236}">
                <a16:creationId xmlns:a16="http://schemas.microsoft.com/office/drawing/2014/main" id="{19E7B047-08E6-29C1-F101-C084D555AACC}"/>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1" name="Slide Number Placeholder 5">
            <a:extLst xmlns:a="http://schemas.openxmlformats.org/drawingml/2006/main">
              <a:ext uri="{FF2B5EF4-FFF2-40B4-BE49-F238E27FC236}">
                <a16:creationId xmlns:a16="http://schemas.microsoft.com/office/drawing/2014/main" id="{3DE564C6-8AA0-935D-A919-07AFA15B335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2" name="Text Placeholder 2">
            <a:extLst xmlns:a="http://schemas.openxmlformats.org/drawingml/2006/main">
              <a:ext uri="{FF2B5EF4-FFF2-40B4-BE49-F238E27FC236}">
                <a16:creationId xmlns:a16="http://schemas.microsoft.com/office/drawing/2014/main" id="{4ABE46D3-8F05-1C7F-3EC7-20BFCC76C251}"/>
              </a:ext>
            </a:extLst>
          </p:cNvPr>
          <p:cNvSpPr>
            <a:spLocks xmlns:a="http://schemas.openxmlformats.org/drawingml/2006/main" noGrp="1"/>
          </p:cNvSpPr>
          <p:nvPr>
            <p:ph idx="10"/>
          </p:nvPr>
        </p:nvSpPr>
        <p:spPr>
          <a:xfrm xmlns:a="http://schemas.openxmlformats.org/drawingml/2006/main">
            <a:off x="6256618" y="2032000"/>
            <a:ext cx="55372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739D2C21-36BF-25E7-8E97-1D17F313F7AF}"/>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4.xml><?xml version="1.0" encoding="utf-8"?>
<p:sldLayout xmlns:p="http://schemas.openxmlformats.org/presentationml/2006/main" preserve="1" userDrawn="1">
  <p:cSld name="Three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14" name="Text Placeholder 2">
            <a:extLst xmlns:a="http://schemas.openxmlformats.org/drawingml/2006/main">
              <a:ext uri="{FF2B5EF4-FFF2-40B4-BE49-F238E27FC236}">
                <a16:creationId xmlns:a16="http://schemas.microsoft.com/office/drawing/2014/main" id="{80E090C5-E6C8-92F2-E8C2-A840B8F1807D}"/>
              </a:ext>
            </a:extLst>
          </p:cNvPr>
          <p:cNvSpPr>
            <a:spLocks xmlns:a="http://schemas.openxmlformats.org/drawingml/2006/main" noGrp="1"/>
          </p:cNvSpPr>
          <p:nvPr>
            <p:ph idx="10"/>
          </p:nvPr>
        </p:nvSpPr>
        <p:spPr>
          <a:xfrm xmlns:a="http://schemas.openxmlformats.org/drawingml/2006/main">
            <a:off x="4318000"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5" name="Text Placeholder 2">
            <a:extLst xmlns:a="http://schemas.openxmlformats.org/drawingml/2006/main">
              <a:ext uri="{FF2B5EF4-FFF2-40B4-BE49-F238E27FC236}">
                <a16:creationId xmlns:a16="http://schemas.microsoft.com/office/drawing/2014/main" id="{0C6D2D15-AEC2-9F99-316F-C37AF863965D}"/>
              </a:ext>
            </a:extLst>
          </p:cNvPr>
          <p:cNvSpPr>
            <a:spLocks xmlns:a="http://schemas.openxmlformats.org/drawingml/2006/main" noGrp="1"/>
          </p:cNvSpPr>
          <p:nvPr>
            <p:ph idx="11"/>
          </p:nvPr>
        </p:nvSpPr>
        <p:spPr>
          <a:xfrm xmlns:a="http://schemas.openxmlformats.org/drawingml/2006/main">
            <a:off x="8232273" y="2032000"/>
            <a:ext cx="35687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5.xml><?xml version="1.0" encoding="utf-8"?>
<p:sldLayout xmlns:p="http://schemas.openxmlformats.org/presentationml/2006/main" preserve="1" userDrawn="1">
  <p:cSld name="Four Content">
    <p:spTree>
      <p:nvGrpSpPr>
        <p:cNvPr id="1" name=""/>
        <p:cNvGrpSpPr/>
        <p:nvPr/>
      </p:nvGrpSpPr>
      <p:grpSpPr>
        <a:xfrm xmlns:a="http://schemas.openxmlformats.org/drawingml/2006/main"/>
      </p:grpSpPr>
      <p:sp>
        <p:nvSpPr>
          <p:cNvPr id="11" name="Text Placeholder 2">
            <a:extLst xmlns:a="http://schemas.openxmlformats.org/drawingml/2006/main">
              <a:ext uri="{FF2B5EF4-FFF2-40B4-BE49-F238E27FC236}">
                <a16:creationId xmlns:a16="http://schemas.microsoft.com/office/drawing/2014/main" id="{6F7D12C6-B3BC-2F80-A661-00CC228193B5}"/>
              </a:ext>
            </a:extLst>
          </p:cNvPr>
          <p:cNvSpPr>
            <a:spLocks xmlns:a="http://schemas.openxmlformats.org/drawingml/2006/main" noGrp="1"/>
          </p:cNvSpPr>
          <p:nvPr>
            <p:ph idx="1"/>
          </p:nvPr>
        </p:nvSpPr>
        <p:spPr>
          <a:xfrm xmlns:a="http://schemas.openxmlformats.org/drawingml/2006/main">
            <a:off x="393700"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2" name="Footer Placeholder 4">
            <a:extLst xmlns:a="http://schemas.openxmlformats.org/drawingml/2006/main">
              <a:ext uri="{FF2B5EF4-FFF2-40B4-BE49-F238E27FC236}">
                <a16:creationId xmlns:a16="http://schemas.microsoft.com/office/drawing/2014/main" id="{0682803B-B799-370F-B1B9-EB49CCB10A11}"/>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13" name="Slide Number Placeholder 5">
            <a:extLst xmlns:a="http://schemas.openxmlformats.org/drawingml/2006/main">
              <a:ext uri="{FF2B5EF4-FFF2-40B4-BE49-F238E27FC236}">
                <a16:creationId xmlns:a16="http://schemas.microsoft.com/office/drawing/2014/main" id="{AFE26095-B1FD-5C7C-C8D6-78ABF739DCBA}"/>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EC59174D-4FF5-0FD8-FE78-F71A39E187AE}"/>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8" name="Text Placeholder 7">
            <a:extLst xmlns:a="http://schemas.openxmlformats.org/drawingml/2006/main">
              <a:ext uri="{FF2B5EF4-FFF2-40B4-BE49-F238E27FC236}">
                <a16:creationId xmlns:a16="http://schemas.microsoft.com/office/drawing/2014/main" id="{4F70A9DA-D783-0627-3166-E13B68C2ADAC}"/>
              </a:ext>
            </a:extLst>
          </p:cNvPr>
          <p:cNvSpPr>
            <a:spLocks xmlns:a="http://schemas.openxmlformats.org/drawingml/2006/main" noGrp="1"/>
          </p:cNvSpPr>
          <p:nvPr>
            <p:ph type="body" idx="12"/>
          </p:nvPr>
        </p:nvSpPr>
        <p:spPr>
          <a:xfrm xmlns:a="http://schemas.openxmlformats.org/drawingml/2006/main">
            <a:off x="3334966"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
        <p:nvSpPr>
          <p:cNvPr id="9" name="Text Placeholder 2">
            <a:extLst xmlns:a="http://schemas.openxmlformats.org/drawingml/2006/main">
              <a:ext uri="{FF2B5EF4-FFF2-40B4-BE49-F238E27FC236}">
                <a16:creationId xmlns:a16="http://schemas.microsoft.com/office/drawing/2014/main" id="{75BF2647-8E8C-CAEE-896D-0E1567AF7E99}"/>
              </a:ext>
            </a:extLst>
          </p:cNvPr>
          <p:cNvSpPr>
            <a:spLocks xmlns:a="http://schemas.openxmlformats.org/drawingml/2006/main" noGrp="1"/>
          </p:cNvSpPr>
          <p:nvPr>
            <p:ph idx="13"/>
          </p:nvPr>
        </p:nvSpPr>
        <p:spPr>
          <a:xfrm xmlns:a="http://schemas.openxmlformats.org/drawingml/2006/main">
            <a:off x="6264413" y="2213811"/>
            <a:ext cx="2595934" cy="3780589"/>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lvl1pPr>
              <a:buNone/>
              <a:defRPr sz="1600"/>
            </a:lvl1pPr>
            <a:lvl2pPr>
              <a:buNone/>
              <a:defRPr sz="1600"/>
            </a:lvl2pPr>
            <a:lvl3pPr>
              <a:buNone/>
              <a:defRPr sz="1600"/>
            </a:lvl3pPr>
            <a:lvl4pPr>
              <a:buNone/>
              <a:defRPr sz="1600"/>
            </a:lvl4pPr>
            <a:lvl5pPr>
              <a:buNone/>
              <a:defRPr sz="1600"/>
            </a:lvl5pPr>
          </a:lstStyle>
          <a:p xmlns:a="http://schemas.openxmlformats.org/drawingml/2006/main">
            <a:pPr lvl="0">
              <a:buNone/>
            </a:pPr>
            <a:r>
              <a:t>Click to edit Master</a:t>
            </a:r>
          </a:p>
        </p:txBody>
      </p:sp>
      <p:sp>
        <p:nvSpPr>
          <p:cNvPr id="10" name="Text Placeholder 7">
            <a:extLst xmlns:a="http://schemas.openxmlformats.org/drawingml/2006/main">
              <a:ext uri="{FF2B5EF4-FFF2-40B4-BE49-F238E27FC236}">
                <a16:creationId xmlns:a16="http://schemas.microsoft.com/office/drawing/2014/main" id="{37C6F143-221A-9959-8FBA-B9B1DB6602D0}"/>
              </a:ext>
            </a:extLst>
          </p:cNvPr>
          <p:cNvSpPr>
            <a:spLocks xmlns:a="http://schemas.openxmlformats.org/drawingml/2006/main" noGrp="1"/>
          </p:cNvSpPr>
          <p:nvPr>
            <p:ph type="body" idx="14"/>
          </p:nvPr>
        </p:nvSpPr>
        <p:spPr>
          <a:xfrm xmlns:a="http://schemas.openxmlformats.org/drawingml/2006/main">
            <a:off x="9205679" y="2213811"/>
            <a:ext cx="2595934" cy="3780589"/>
          </a:xfrm>
        </p:spPr>
        <p:txBody>
          <a:bodyPr xmlns:a="http://schemas.openxmlformats.org/drawingml/2006/main"/>
          <a:lstStyle xmlns:a="http://schemas.openxmlformats.org/drawingml/2006/main">
            <a:lvl1pPr>
              <a:buNone/>
              <a:defRPr sz="1800"/>
            </a:lvl1pPr>
            <a:lvl2pPr>
              <a:buNone/>
              <a:defRPr sz="1800"/>
            </a:lvl2pPr>
            <a:lvl3pPr>
              <a:buNone/>
              <a:defRPr sz="1800"/>
            </a:lvl3pPr>
            <a:lvl4pPr>
              <a:buNone/>
              <a:defRPr sz="1800"/>
            </a:lvl4pPr>
            <a:lvl5pPr>
              <a:buNone/>
              <a:defRPr sz="1800"/>
            </a:lvl5pPr>
          </a:lstStyle>
          <a:p xmlns:a="http://schemas.openxmlformats.org/drawingml/2006/main">
            <a:pPr lvl="0">
              <a:buNone/>
            </a:pPr>
            <a:r>
              <a:t>Click to edit Master</a:t>
            </a:r>
          </a:p>
        </p:txBody>
      </p:sp>
    </p:spTree>
  </p:cSld>
</p:sldLayout>
</file>

<file path=ppt/slideLayouts/slideLayout6.xml><?xml version="1.0" encoding="utf-8"?>
<p:sldLayout xmlns:p="http://schemas.openxmlformats.org/presentationml/2006/main" preserve="1" userDrawn="1">
  <p:cSld name="Title Only">
    <p:spTree>
      <p:nvGrpSpPr>
        <p:cNvPr id="1" name=""/>
        <p:cNvGrpSpPr/>
        <p:nvPr/>
      </p:nvGrpSpPr>
      <p:grpSpPr>
        <a:xfrm xmlns:a="http://schemas.openxmlformats.org/drawingml/2006/main"/>
      </p:grpSpPr>
      <p:sp>
        <p:nvSpPr>
          <p:cNvPr id="8" name="Footer Placeholder 4">
            <a:extLst xmlns:a="http://schemas.openxmlformats.org/drawingml/2006/main">
              <a:ext uri="{FF2B5EF4-FFF2-40B4-BE49-F238E27FC236}">
                <a16:creationId xmlns:a16="http://schemas.microsoft.com/office/drawing/2014/main" id="{DB1182C5-F22B-2641-06DE-4EDACA3C1DDD}"/>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9" name="Slide Number Placeholder 5">
            <a:extLst xmlns:a="http://schemas.openxmlformats.org/drawingml/2006/main">
              <a:ext uri="{FF2B5EF4-FFF2-40B4-BE49-F238E27FC236}">
                <a16:creationId xmlns:a16="http://schemas.microsoft.com/office/drawing/2014/main" id="{F97A4AD5-204B-38FD-4F33-270C2F9F5CC6}"/>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
        <p:nvSpPr>
          <p:cNvPr id="2" name="Title Placeholder 1">
            <a:extLst xmlns:a="http://schemas.openxmlformats.org/drawingml/2006/main">
              <a:ext uri="{FF2B5EF4-FFF2-40B4-BE49-F238E27FC236}">
                <a16:creationId xmlns:a16="http://schemas.microsoft.com/office/drawing/2014/main" id="{75CF9983-3FD7-FAE4-9F0B-B2CE806D891D}"/>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Tree>
  </p:cSld>
</p:sldLayout>
</file>

<file path=ppt/slideLayouts/slideLayout7.xml><?xml version="1.0" encoding="utf-8"?>
<p:sldLayout xmlns:p="http://schemas.openxmlformats.org/presentationml/2006/main" preserve="1" userDrawn="1">
  <p:cSld name="Footer Only">
    <p:spTree>
      <p:nvGrpSpPr>
        <p:cNvPr id="1" name=""/>
        <p:cNvGrpSpPr/>
        <p:nvPr/>
      </p:nvGrpSpPr>
      <p:grpSpPr>
        <a:xfrm xmlns:a="http://schemas.openxmlformats.org/drawingml/2006/main"/>
      </p:grpSpPr>
      <p:sp>
        <p:nvSpPr>
          <p:cNvPr id="7" name="Footer Placeholder 4">
            <a:extLst xmlns:a="http://schemas.openxmlformats.org/drawingml/2006/main">
              <a:ext uri="{FF2B5EF4-FFF2-40B4-BE49-F238E27FC236}">
                <a16:creationId xmlns:a16="http://schemas.microsoft.com/office/drawing/2014/main" id="{1012CBCC-C555-8C11-443D-86D6F7A45CF8}"/>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8" name="Slide Number Placeholder 5">
            <a:extLst xmlns:a="http://schemas.openxmlformats.org/drawingml/2006/main">
              <a:ext uri="{FF2B5EF4-FFF2-40B4-BE49-F238E27FC236}">
                <a16:creationId xmlns:a16="http://schemas.microsoft.com/office/drawing/2014/main" id="{B69B260B-B882-BF7F-1BB1-28B9578A25A2}"/>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sldLayout>
</file>

<file path=ppt/slideLayouts/slideLayout8.xml><?xml version="1.0" encoding="utf-8"?>
<p:sldLayout xmlns:p="http://schemas.openxmlformats.org/presentationml/2006/main" preserve="1" userDrawn="1">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26e1d1cb40a426b" /><Relationship Type="http://schemas.openxmlformats.org/officeDocument/2006/relationships/slideLayout" Target="/ppt/slideLayouts/slideLayout1.xml" Id="R9dcd1c18eaf74de1" /><Relationship Type="http://schemas.openxmlformats.org/officeDocument/2006/relationships/slideLayout" Target="/ppt/slideLayouts/slideLayout2.xml" Id="Rb5504b8cd9534936" /><Relationship Type="http://schemas.openxmlformats.org/officeDocument/2006/relationships/slideLayout" Target="/ppt/slideLayouts/slideLayout3.xml" Id="R2564094efa894cc9" /><Relationship Type="http://schemas.openxmlformats.org/officeDocument/2006/relationships/slideLayout" Target="/ppt/slideLayouts/slideLayout4.xml" Id="R2683bb288ac74783" /><Relationship Type="http://schemas.openxmlformats.org/officeDocument/2006/relationships/slideLayout" Target="/ppt/slideLayouts/slideLayout5.xml" Id="Rb73734e9ce6d45d6" /><Relationship Type="http://schemas.openxmlformats.org/officeDocument/2006/relationships/slideLayout" Target="/ppt/slideLayouts/slideLayout6.xml" Id="Rea23ec8642a74fe2" /><Relationship Type="http://schemas.openxmlformats.org/officeDocument/2006/relationships/slideLayout" Target="/ppt/slideLayouts/slideLayout7.xml" Id="R1353d3c6b5584d11" /><Relationship Type="http://schemas.openxmlformats.org/officeDocument/2006/relationships/slideLayout" Target="/ppt/slideLayouts/slideLayout8.xml" Id="Rc14233bb5e7c4deb"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BB87ED2E-D8FF-5C8C-ED50-59BA3091C3E1}"/>
              </a:ext>
            </a:extLst>
          </p:cNvPr>
          <p:cNvSpPr>
            <a:spLocks xmlns:a="http://schemas.openxmlformats.org/drawingml/2006/main" noGrp="1"/>
          </p:cNvSpPr>
          <p:nvPr>
            <p:ph type="title" idx="0"/>
          </p:nvPr>
        </p:nvSpPr>
        <p:spPr>
          <a:xfrm xmlns:a="http://schemas.openxmlformats.org/drawingml/2006/main">
            <a:off x="393700" y="344008"/>
            <a:ext cx="11404600" cy="1047491"/>
          </a:xfrm>
          <a:prstGeom xmlns:a="http://schemas.openxmlformats.org/drawingml/2006/main" prst="rect">
            <a:avLst/>
          </a:prstGeom>
        </p:spPr>
        <p:txBody>
          <a:bodyPr xmlns:a="http://schemas.openxmlformats.org/drawingml/2006/main" vert="horz" lIns="0" tIns="0" rIns="0" bIns="0" anchor="t">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05B0E1CB-6DCA-2E9F-2B74-4309B4084C09}"/>
              </a:ext>
            </a:extLst>
          </p:cNvPr>
          <p:cNvSpPr>
            <a:spLocks xmlns:a="http://schemas.openxmlformats.org/drawingml/2006/main" noGrp="1"/>
          </p:cNvSpPr>
          <p:nvPr>
            <p:ph type="body" idx="1"/>
          </p:nvPr>
        </p:nvSpPr>
        <p:spPr>
          <a:xfrm xmlns:a="http://schemas.openxmlformats.org/drawingml/2006/main">
            <a:off x="393700" y="2032000"/>
            <a:ext cx="11404600" cy="3962400"/>
          </a:xfrm>
          <a:prstGeom xmlns:a="http://schemas.openxmlformats.org/drawingml/2006/main" prst="rect">
            <a:avLst/>
          </a:prstGeom>
        </p:spPr>
        <p:txBody>
          <a:bodyPr xmlns:a="http://schemas.openxmlformats.org/drawingml/2006/main" vert="horz" lIns="0" tIns="0" rIns="0" bIns="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Footer Placeholder 4">
            <a:extLst xmlns:a="http://schemas.openxmlformats.org/drawingml/2006/main">
              <a:ext uri="{FF2B5EF4-FFF2-40B4-BE49-F238E27FC236}">
                <a16:creationId xmlns:a16="http://schemas.microsoft.com/office/drawing/2014/main" id="{3C75650C-2983-5B02-8421-FF1818435433}"/>
              </a:ext>
            </a:extLst>
          </p:cNvPr>
          <p:cNvSpPr>
            <a:spLocks xmlns:a="http://schemas.openxmlformats.org/drawingml/2006/main" noGrp="1"/>
          </p:cNvSpPr>
          <p:nvPr>
            <p:ph type="ftr" idx="3"/>
          </p:nvPr>
        </p:nvSpPr>
        <p:spPr>
          <a:xfrm xmlns:a="http://schemas.openxmlformats.org/drawingml/2006/main">
            <a:off x="393700" y="6279952"/>
            <a:ext cx="3568700"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l">
              <a:buNone/>
              <a:defRPr sz="1000">
                <a:solidFill>
                  <a:schemeClr val="tx1"/>
                </a:solidFill>
              </a:defRPr>
            </a:lvl1pPr>
          </a:lstStyle>
          <a:p xmlns:a="http://schemas.openxmlformats.org/drawingml/2006/main">
            <a:endParaRPr sz="1000"/>
          </a:p>
        </p:txBody>
      </p:sp>
      <p:sp>
        <p:nvSpPr>
          <p:cNvPr id="6" name="Slide Number Placeholder 5">
            <a:extLst xmlns:a="http://schemas.openxmlformats.org/drawingml/2006/main">
              <a:ext uri="{FF2B5EF4-FFF2-40B4-BE49-F238E27FC236}">
                <a16:creationId xmlns:a16="http://schemas.microsoft.com/office/drawing/2014/main" id="{D872C88C-1AB3-96BA-C9E5-3435A4BD59BB}"/>
              </a:ext>
            </a:extLst>
          </p:cNvPr>
          <p:cNvSpPr>
            <a:spLocks xmlns:a="http://schemas.openxmlformats.org/drawingml/2006/main" noGrp="1"/>
          </p:cNvSpPr>
          <p:nvPr>
            <p:ph type="sldNum" idx="4"/>
          </p:nvPr>
        </p:nvSpPr>
        <p:spPr>
          <a:xfrm xmlns:a="http://schemas.openxmlformats.org/drawingml/2006/main">
            <a:off x="11279332" y="6279294"/>
            <a:ext cx="518968" cy="241240"/>
          </a:xfrm>
          <a:prstGeom xmlns:a="http://schemas.openxmlformats.org/drawingml/2006/main" prst="rect">
            <a:avLst/>
          </a:prstGeom>
        </p:spPr>
        <p:txBody>
          <a:bodyPr xmlns:a="http://schemas.openxmlformats.org/drawingml/2006/main" vert="horz" lIns="0" tIns="0" rIns="0" bIns="0" anchor="b"/>
          <a:lstStyle xmlns:a="http://schemas.openxmlformats.org/drawingml/2006/main">
            <a:lvl1pPr algn="r">
              <a:buNone/>
              <a:defRPr sz="1000" kern="1200">
                <a:solidFill>
                  <a:schemeClr val="tx1"/>
                </a:solidFill>
                <a:latin typeface="+mn-lt"/>
                <a:ea typeface="+mn-lt"/>
                <a:cs typeface="+mn-lt"/>
              </a:defRPr>
            </a:lvl1pPr>
          </a:lstStyle>
          <a:p xmlns:a="http://schemas.openxmlformats.org/drawingml/2006/main">
            <a:fld id="{8574A810-7A8E-054F-9F6B-09E9C694ECF9}" type="slidenum">
              <a:t>‹#›</a:t>
            </a:fld>
            <a:endParaRPr sz="1000"/>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cd1c18eaf74de1"/>
    <p:sldLayoutId xmlns:r="http://schemas.openxmlformats.org/officeDocument/2006/relationships" id="2147483650" r:id="Rb5504b8cd9534936"/>
    <p:sldLayoutId xmlns:r="http://schemas.openxmlformats.org/officeDocument/2006/relationships" id="2147483651" r:id="R2564094efa894cc9"/>
    <p:sldLayoutId xmlns:r="http://schemas.openxmlformats.org/officeDocument/2006/relationships" id="2147483652" r:id="R2683bb288ac74783"/>
    <p:sldLayoutId xmlns:r="http://schemas.openxmlformats.org/officeDocument/2006/relationships" id="2147483653" r:id="Rb73734e9ce6d45d6"/>
    <p:sldLayoutId xmlns:r="http://schemas.openxmlformats.org/officeDocument/2006/relationships" id="2147483654" r:id="Rea23ec8642a74fe2"/>
    <p:sldLayoutId xmlns:r="http://schemas.openxmlformats.org/officeDocument/2006/relationships" id="2147483655" r:id="R1353d3c6b5584d11"/>
    <p:sldLayoutId xmlns:r="http://schemas.openxmlformats.org/officeDocument/2006/relationships" id="2147483656" r:id="Rc14233bb5e7c4deb"/>
  </p:sldLayoutIdLst>
  <p:hf hdr="0" dt="0"/>
  <p:txStyles>
    <p:titleStyle>
      <a:lvl1pPr xmlns:a="http://schemas.openxmlformats.org/drawingml/2006/main" algn="l" defTabSz="914400">
        <a:lnSpc>
          <a:spcPct val="90000"/>
        </a:lnSpc>
        <a:spcBef>
          <a:spcPct val="0"/>
        </a:spcBef>
        <a:buNone/>
        <a:defRPr sz="2900" kern="12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xmlns:a="http://schemas.openxmlformats.org/drawingml/2006/main"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xmlns:a="http://schemas.openxmlformats.org/drawingml/2006/main"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xmlns:a="http://schemas.openxmlformats.org/drawingml/2006/main"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xmlns:a="http://schemas.openxmlformats.org/drawingml/2006/main"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xmlns:a="http://schemas.openxmlformats.org/drawingml/2006/main"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xmlns:a="http://schemas.openxmlformats.org/drawingml/2006/main"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xmlns:a="http://schemas.openxmlformats.org/drawingml/2006/main"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xmlns:a="http://schemas.openxmlformats.org/drawingml/2006/main"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otherStyle>
  </p:txStyles>
  <p:extLst>
    <p:ext uri="{27BBF7A9-308A-43DC-89C8-2F10F3537804}">
      <p15:sldGuideLst xmlns:p15="http://schemas.microsoft.com/office/powerpoint/2012/main">
        <p15:guide id="1" userDrawn="1">
          <p15:clr>
            <a:srgbClr xmlns:a="http://schemas.openxmlformats.org/drawingml/2006/main" val="F26B43"/>
          </p15:clr>
        </p15:guide>
        <p15:guide id="2" pos="7680" userDrawn="1">
          <p15:clr>
            <a:srgbClr xmlns:a="http://schemas.openxmlformats.org/drawingml/2006/main" val="F26B43"/>
          </p15:clr>
        </p15:guide>
        <p15:guide id="3" pos="248" userDrawn="1">
          <p15:clr>
            <a:srgbClr xmlns:a="http://schemas.openxmlformats.org/drawingml/2006/main" val="F26B43"/>
          </p15:clr>
        </p15:guide>
        <p15:guide id="4" pos="1264" userDrawn="1">
          <p15:clr>
            <a:srgbClr xmlns:a="http://schemas.openxmlformats.org/drawingml/2006/main" val="F26B43"/>
          </p15:clr>
        </p15:guide>
        <p15:guide id="5" pos="1480" userDrawn="1">
          <p15:clr>
            <a:srgbClr xmlns:a="http://schemas.openxmlformats.org/drawingml/2006/main" val="F26B43"/>
          </p15:clr>
        </p15:guide>
        <p15:guide id="6" pos="2496" userDrawn="1">
          <p15:clr>
            <a:srgbClr xmlns:a="http://schemas.openxmlformats.org/drawingml/2006/main" val="F26B43"/>
          </p15:clr>
        </p15:guide>
        <p15:guide id="7" pos="2712" userDrawn="1">
          <p15:clr>
            <a:srgbClr xmlns:a="http://schemas.openxmlformats.org/drawingml/2006/main" val="F26B43"/>
          </p15:clr>
        </p15:guide>
        <p15:guide id="8" pos="3736" userDrawn="1">
          <p15:clr>
            <a:srgbClr xmlns:a="http://schemas.openxmlformats.org/drawingml/2006/main" val="F26B43"/>
          </p15:clr>
        </p15:guide>
        <p15:guide id="9" pos="3944" userDrawn="1">
          <p15:clr>
            <a:srgbClr xmlns:a="http://schemas.openxmlformats.org/drawingml/2006/main" val="F26B43"/>
          </p15:clr>
        </p15:guide>
        <p15:guide id="10" pos="4968" userDrawn="1">
          <p15:clr>
            <a:srgbClr xmlns:a="http://schemas.openxmlformats.org/drawingml/2006/main" val="F26B43"/>
          </p15:clr>
        </p15:guide>
        <p15:guide id="11" pos="5184" userDrawn="1">
          <p15:clr>
            <a:srgbClr xmlns:a="http://schemas.openxmlformats.org/drawingml/2006/main" val="F26B43"/>
          </p15:clr>
        </p15:guide>
        <p15:guide id="12" pos="6200" userDrawn="1">
          <p15:clr>
            <a:srgbClr xmlns:a="http://schemas.openxmlformats.org/drawingml/2006/main" val="F26B43"/>
          </p15:clr>
        </p15:guide>
        <p15:guide id="13" pos="6416" userDrawn="1">
          <p15:clr>
            <a:srgbClr xmlns:a="http://schemas.openxmlformats.org/drawingml/2006/main" val="F26B43"/>
          </p15:clr>
        </p15:guide>
        <p15:guide id="14" pos="7432" userDrawn="1">
          <p15:clr>
            <a:srgbClr xmlns:a="http://schemas.openxmlformats.org/drawingml/2006/main" val="F26B43"/>
          </p15:clr>
        </p15:guide>
        <p15:guide id="15" orient="horz" userDrawn="1">
          <p15:clr>
            <a:srgbClr xmlns:a="http://schemas.openxmlformats.org/drawingml/2006/main" val="F26B43"/>
          </p15:clr>
        </p15:guide>
        <p15:guide id="17" orient="horz" pos="248" userDrawn="1">
          <p15:clr>
            <a:srgbClr xmlns:a="http://schemas.openxmlformats.org/drawingml/2006/main" val="F26B43"/>
          </p15:clr>
        </p15:guide>
        <p15:guide id="18" orient="horz" pos="656" userDrawn="1">
          <p15:clr>
            <a:srgbClr xmlns:a="http://schemas.openxmlformats.org/drawingml/2006/main" val="F26B43"/>
          </p15:clr>
        </p15:guide>
        <p15:guide id="19" orient="horz" pos="872" userDrawn="1">
          <p15:clr>
            <a:srgbClr xmlns:a="http://schemas.openxmlformats.org/drawingml/2006/main" val="F26B43"/>
          </p15:clr>
        </p15:guide>
        <p15:guide id="20" orient="horz" pos="1280" userDrawn="1">
          <p15:clr>
            <a:srgbClr xmlns:a="http://schemas.openxmlformats.org/drawingml/2006/main" val="F26B43"/>
          </p15:clr>
        </p15:guide>
        <p15:guide id="21" orient="horz" pos="1496" userDrawn="1">
          <p15:clr>
            <a:srgbClr xmlns:a="http://schemas.openxmlformats.org/drawingml/2006/main" val="F26B43"/>
          </p15:clr>
        </p15:guide>
        <p15:guide id="22" orient="horz" pos="1904" userDrawn="1">
          <p15:clr>
            <a:srgbClr xmlns:a="http://schemas.openxmlformats.org/drawingml/2006/main" val="F26B43"/>
          </p15:clr>
        </p15:guide>
        <p15:guide id="23" orient="horz" pos="2120" userDrawn="1">
          <p15:clr>
            <a:srgbClr xmlns:a="http://schemas.openxmlformats.org/drawingml/2006/main" val="F26B43"/>
          </p15:clr>
        </p15:guide>
        <p15:guide id="24" orient="horz" pos="2528" userDrawn="1">
          <p15:clr>
            <a:srgbClr xmlns:a="http://schemas.openxmlformats.org/drawingml/2006/main" val="F26B43"/>
          </p15:clr>
        </p15:guide>
        <p15:guide id="25" orient="horz" pos="2744" userDrawn="1">
          <p15:clr>
            <a:srgbClr xmlns:a="http://schemas.openxmlformats.org/drawingml/2006/main" val="F26B43"/>
          </p15:clr>
        </p15:guide>
        <p15:guide id="26" orient="horz" pos="3152" userDrawn="1">
          <p15:clr>
            <a:srgbClr xmlns:a="http://schemas.openxmlformats.org/drawingml/2006/main" val="F26B43"/>
          </p15:clr>
        </p15:guide>
        <p15:guide id="27" orient="horz" pos="3368" userDrawn="1">
          <p15:clr>
            <a:srgbClr xmlns:a="http://schemas.openxmlformats.org/drawingml/2006/main" val="F26B43"/>
          </p15:clr>
        </p15:guide>
        <p15:guide id="28" orient="horz" pos="3776" userDrawn="1">
          <p15:clr>
            <a:srgbClr xmlns:a="http://schemas.openxmlformats.org/drawingml/2006/main" val="F26B43"/>
          </p15:clr>
        </p15:guide>
        <p15:guide id="29" orient="horz" pos="4088" userDrawn="1">
          <p15:clr>
            <a:srgbClr xmlns:a="http://schemas.openxmlformats.org/drawingml/2006/main" val="F26B43"/>
          </p15:clr>
        </p15:guide>
      </p15:sldGuideLst>
    </p:ext>
  </p:extLst>
</p:sldMaster>
</file>

<file path=ppt/slideMasters/theme/theme2.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4b6a3fd3d3f43cc" /><Relationship Type="http://schemas.openxmlformats.org/officeDocument/2006/relationships/notesSlide" Target="/ppt/notesSlides/notesSlide1.xml" Id="R8b1136855c6d4295"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3dd12dbe2ab4b8d" /><Relationship Type="http://schemas.openxmlformats.org/officeDocument/2006/relationships/notesSlide" Target="/ppt/notesSlides/notesSlide2.xml" Id="R02591ff9ea0d47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09eef7e10bf4e21" /><Relationship Type="http://schemas.openxmlformats.org/officeDocument/2006/relationships/notesSlide" Target="/ppt/notesSlides/notesSlide3.xml" Id="R1fca18a72bbc4ea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e854bc97e74427" /><Relationship Type="http://schemas.openxmlformats.org/officeDocument/2006/relationships/notesSlide" Target="/ppt/notesSlides/notesSlide4.xml" Id="Rb7aa01df32e04e54"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e0e3e8aada24d92" /><Relationship Type="http://schemas.openxmlformats.org/officeDocument/2006/relationships/notesSlide" Target="/ppt/notesSlides/notesSlide5.xml" Id="R472b59b336c8430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605a96a89a404aa5" /><Relationship Type="http://schemas.openxmlformats.org/officeDocument/2006/relationships/notesSlide" Target="/ppt/notesSlides/notesSlide6.xml" Id="R54c45209b814430e"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416e58adeae449d0" /><Relationship Type="http://schemas.openxmlformats.org/officeDocument/2006/relationships/notesSlide" Target="/ppt/notesSlides/notesSlide7.xml" Id="R5b4e30f1ebf64f1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3b965cb0227481e" /><Relationship Type="http://schemas.openxmlformats.org/officeDocument/2006/relationships/notesSlide" Target="/ppt/notesSlides/notesSlide8.xml" Id="R8142f6766a814f0e"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1168bfbce77944da" /><Relationship Type="http://schemas.openxmlformats.org/officeDocument/2006/relationships/notesSlide" Target="/ppt/notesSlides/notesSlide9.xml" Id="R3e95d87b507b42a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a4bfbb562fb842f0" /><Relationship Type="http://schemas.openxmlformats.org/officeDocument/2006/relationships/notesSlide" Target="/ppt/notesSlides/notesSlide10.xml" Id="R236cd6519eac4996"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e824d74d51248e3" /><Relationship Type="http://schemas.openxmlformats.org/officeDocument/2006/relationships/notesSlide" Target="/ppt/notesSlides/notesSlide11.xml" Id="R7b81a31e08e54e4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9775c03d204943ae" /><Relationship Type="http://schemas.openxmlformats.org/officeDocument/2006/relationships/notesSlide" Target="/ppt/notesSlides/notesSlide12.xml" Id="Rff67d5b11fdf4b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80a9a2f4084431d" /><Relationship Type="http://schemas.openxmlformats.org/officeDocument/2006/relationships/notesSlide" Target="/ppt/notesSlides/notesSlide13.xml" Id="R992dec60ff184bd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facac8f751e6424a" /><Relationship Type="http://schemas.openxmlformats.org/officeDocument/2006/relationships/notesSlide" Target="/ppt/notesSlides/notesSlide14.xml" Id="R0b1fc45ad75d478d"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ba4eed70e2c42a6" /><Relationship Type="http://schemas.openxmlformats.org/officeDocument/2006/relationships/notesSlide" Target="/ppt/notesSlides/notesSlide15.xml" Id="Ra35f3e16bade4410"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4" name="Title 3">
            <a:extLst xmlns:a="http://schemas.openxmlformats.org/drawingml/2006/main">
              <a:ext uri="{FF2B5EF4-FFF2-40B4-BE49-F238E27FC236}">
                <a16:creationId xmlns:a16="http://schemas.microsoft.com/office/drawing/2014/main" id="{59A8DA10-BC74-F432-B483-CF813D4319AD}"/>
              </a:ext>
            </a:extLst>
          </p:cNvPr>
          <p:cNvSpPr>
            <a:spLocks xmlns:a="http://schemas.openxmlformats.org/drawingml/2006/main" noGrp="1"/>
          </p:cNvSpPr>
          <p:nvPr>
            <p:ph type="ctrTitle" idx="0"/>
          </p:nvPr>
        </p:nvSpPr>
        <p:spPr>
          <a:xfrm xmlns:a="http://schemas.openxmlformats.org/drawingml/2006/main">
            <a:off x="393700" y="2579914"/>
            <a:ext cx="9448800" cy="3624272"/>
          </a:xfrm>
        </p:spPr>
        <p:txBody>
          <a:bodyPr xmlns:a="http://schemas.openxmlformats.org/drawingml/2006/main">
            <a:noAutofit/>
          </a:bodyPr>
          <a:lstStyle xmlns:a="http://schemas.openxmlformats.org/drawingml/2006/main"/>
          <a:p xmlns:a="http://schemas.openxmlformats.org/drawingml/2006/main">
            <a:pPr>
              <a:defRPr sz="5400">
                <a:solidFill>
                  <a:srgbClr val="111111"/>
                </a:solidFill>
                <a:latin typeface="Helvetica Neue"/>
                <a:ea typeface="Helvetica Neue"/>
                <a:cs typeface="Helvetica Neue"/>
              </a:defRPr>
            </a:pPr>
            <a:r>
              <a:rPr sz="5400">
                <a:solidFill>
                  <a:srgbClr val="111111"/>
                </a:solidFill>
                <a:latin typeface="Helvetica Neue"/>
                <a:ea typeface="Helvetica Neue"/>
                <a:cs typeface="Helvetica Neue"/>
              </a:rPr>
              <a:t>Three AI business</a:t>
            </a:r>
          </a:p>
          <a:p xmlns:a="http://schemas.openxmlformats.org/drawingml/2006/main">
            <a:pPr>
              <a:defRPr sz="5400">
                <a:solidFill>
                  <a:srgbClr val="111111"/>
                </a:solidFill>
                <a:latin typeface="Helvetica Neue"/>
                <a:ea typeface="Helvetica Neue"/>
                <a:cs typeface="Helvetica Neue"/>
              </a:defRPr>
            </a:pPr>
            <a:r>
              <a:rPr sz="5400">
                <a:solidFill>
                  <a:srgbClr val="111111"/>
                </a:solidFill>
                <a:latin typeface="Helvetica Neue"/>
                <a:ea typeface="Helvetica Neue"/>
                <a:cs typeface="Helvetica Neue"/>
              </a:rPr>
              <a:t>ideas worth testing</a:t>
            </a:r>
          </a:p>
        </p:txBody>
      </p:sp>
      <p:sp>
        <p:nvSpPr>
          <p:cNvPr id="6" name="Subtitle 4">
            <a:extLst xmlns:a="http://schemas.openxmlformats.org/drawingml/2006/main">
              <a:ext uri="{FF2B5EF4-FFF2-40B4-BE49-F238E27FC236}">
                <a16:creationId xmlns:a16="http://schemas.microsoft.com/office/drawing/2014/main" id="{47DF5305-453D-AB88-8DE6-9846FEB1B651}"/>
              </a:ext>
            </a:extLst>
          </p:cNvPr>
          <p:cNvSpPr>
            <a:spLocks xmlns:a="http://schemas.openxmlformats.org/drawingml/2006/main" noGrp="1"/>
          </p:cNvSpPr>
          <p:nvPr/>
        </p:nvSpPr>
        <p:spPr>
          <a:xfrm xmlns:a="http://schemas.openxmlformats.org/drawingml/2006/main">
            <a:off x="393699" y="392241"/>
            <a:ext cx="6157826"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r>
              <a:rPr sz="1800"/>
              <a:t/>
            </a:r>
          </a:p>
        </p:txBody>
      </p:sp>
      <p:sp>
        <p:nvSpPr>
          <p:cNvPr id="8" name="Subtitle 4">
            <a:extLst xmlns:a="http://schemas.openxmlformats.org/drawingml/2006/main">
              <a:ext uri="{FF2B5EF4-FFF2-40B4-BE49-F238E27FC236}">
                <a16:creationId xmlns:a16="http://schemas.microsoft.com/office/drawing/2014/main" id="{4AE41470-6E36-D08D-AC35-CBDFACEF3DBC}"/>
              </a:ext>
            </a:extLst>
          </p:cNvPr>
          <p:cNvSpPr>
            <a:spLocks xmlns:a="http://schemas.openxmlformats.org/drawingml/2006/main" noGrp="1"/>
          </p:cNvSpPr>
          <p:nvPr/>
        </p:nvSpPr>
        <p:spPr>
          <a:xfrm xmlns:a="http://schemas.openxmlformats.org/drawingml/2006/main">
            <a:off x="7886700" y="392241"/>
            <a:ext cx="3911600" cy="649159"/>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buFont typeface="Arial"/>
              <a:buNone/>
              <a:defRPr sz="2400" kern="1200">
                <a:solidFill>
                  <a:schemeClr val="tx1"/>
                </a:solidFill>
                <a:latin typeface="+mn-lt"/>
                <a:ea typeface="+mn-lt"/>
                <a:cs typeface="+mn-lt"/>
              </a:defRPr>
            </a:lvl1pPr>
            <a:lvl2pPr marL="457200" indent="0" algn="ctr" defTabSz="914400">
              <a:lnSpc>
                <a:spcPct val="90000"/>
              </a:lnSpc>
              <a:spcBef>
                <a:spcPts val="500"/>
              </a:spcBef>
              <a:buFont typeface="Arial"/>
              <a:buNone/>
              <a:defRPr sz="2000" kern="1200">
                <a:solidFill>
                  <a:schemeClr val="tx1"/>
                </a:solidFill>
                <a:latin typeface="+mn-lt"/>
                <a:ea typeface="+mn-lt"/>
                <a:cs typeface="+mn-lt"/>
              </a:defRPr>
            </a:lvl2pPr>
            <a:lvl3pPr marL="914400" indent="0" algn="ctr" defTabSz="914400">
              <a:lnSpc>
                <a:spcPct val="90000"/>
              </a:lnSpc>
              <a:spcBef>
                <a:spcPts val="500"/>
              </a:spcBef>
              <a:buFont typeface="Arial"/>
              <a:buNone/>
              <a:defRPr sz="1800" kern="1200">
                <a:solidFill>
                  <a:schemeClr val="tx1"/>
                </a:solidFill>
                <a:latin typeface="+mn-lt"/>
                <a:ea typeface="+mn-lt"/>
                <a:cs typeface="+mn-lt"/>
              </a:defRPr>
            </a:lvl3pPr>
            <a:lvl4pPr marL="1371600" indent="0" algn="ctr" defTabSz="914400">
              <a:lnSpc>
                <a:spcPct val="90000"/>
              </a:lnSpc>
              <a:spcBef>
                <a:spcPts val="500"/>
              </a:spcBef>
              <a:buFont typeface="Arial"/>
              <a:buNone/>
              <a:defRPr sz="1600" kern="1200">
                <a:solidFill>
                  <a:schemeClr val="tx1"/>
                </a:solidFill>
                <a:latin typeface="+mn-lt"/>
                <a:ea typeface="+mn-lt"/>
                <a:cs typeface="+mn-lt"/>
              </a:defRPr>
            </a:lvl4pPr>
            <a:lvl5pPr marL="1828800" indent="0" algn="ctr" defTabSz="914400">
              <a:lnSpc>
                <a:spcPct val="90000"/>
              </a:lnSpc>
              <a:spcBef>
                <a:spcPts val="500"/>
              </a:spcBef>
              <a:buFont typeface="Arial"/>
              <a:buNone/>
              <a:defRPr sz="1600" kern="1200">
                <a:solidFill>
                  <a:schemeClr val="tx1"/>
                </a:solidFill>
                <a:latin typeface="+mn-lt"/>
                <a:ea typeface="+mn-lt"/>
                <a:cs typeface="+mn-lt"/>
              </a:defRPr>
            </a:lvl5pPr>
            <a:lvl6pPr marL="2286000" indent="0" algn="ctr" defTabSz="914400">
              <a:lnSpc>
                <a:spcPct val="90000"/>
              </a:lnSpc>
              <a:spcBef>
                <a:spcPts val="500"/>
              </a:spcBef>
              <a:buFont typeface="Arial"/>
              <a:buNone/>
              <a:defRPr sz="1600" kern="1200">
                <a:solidFill>
                  <a:schemeClr val="tx1"/>
                </a:solidFill>
                <a:latin typeface="+mn-lt"/>
                <a:ea typeface="+mn-lt"/>
                <a:cs typeface="+mn-lt"/>
              </a:defRPr>
            </a:lvl6pPr>
            <a:lvl7pPr marL="2743200" indent="0" algn="ctr" defTabSz="914400">
              <a:lnSpc>
                <a:spcPct val="90000"/>
              </a:lnSpc>
              <a:spcBef>
                <a:spcPts val="500"/>
              </a:spcBef>
              <a:buFont typeface="Arial"/>
              <a:buNone/>
              <a:defRPr sz="1600" kern="1200">
                <a:solidFill>
                  <a:schemeClr val="tx1"/>
                </a:solidFill>
                <a:latin typeface="+mn-lt"/>
                <a:ea typeface="+mn-lt"/>
                <a:cs typeface="+mn-lt"/>
              </a:defRPr>
            </a:lvl7pPr>
            <a:lvl8pPr marL="3200400" indent="0" algn="ctr" defTabSz="914400">
              <a:lnSpc>
                <a:spcPct val="90000"/>
              </a:lnSpc>
              <a:spcBef>
                <a:spcPts val="500"/>
              </a:spcBef>
              <a:buFont typeface="Arial"/>
              <a:buNone/>
              <a:defRPr sz="1600" kern="1200">
                <a:solidFill>
                  <a:schemeClr val="tx1"/>
                </a:solidFill>
                <a:latin typeface="+mn-lt"/>
                <a:ea typeface="+mn-lt"/>
                <a:cs typeface="+mn-lt"/>
              </a:defRPr>
            </a:lvl8pPr>
            <a:lvl9pPr marL="3657600" indent="0" algn="ctr" defTabSz="914400">
              <a:lnSpc>
                <a:spcPct val="90000"/>
              </a:lnSpc>
              <a:spcBef>
                <a:spcPts val="500"/>
              </a:spcBef>
              <a:buFont typeface="Arial"/>
              <a:buNone/>
              <a:defRPr sz="1600" kern="1200">
                <a:solidFill>
                  <a:schemeClr val="tx1"/>
                </a:solidFill>
                <a:latin typeface="+mn-lt"/>
                <a:ea typeface="+mn-lt"/>
                <a:cs typeface="+mn-lt"/>
              </a:defRPr>
            </a:lvl9pPr>
          </a:lstStyle>
          <a:p xmlns:a="http://schemas.openxmlformats.org/drawingml/2006/main">
            <a:pPr algn="r">
              <a:buNone/>
            </a:pPr>
            <a:r>
              <a:rPr sz="1800"/>
              <a:t/>
            </a:r>
          </a:p>
        </p:txBody>
      </p:sp>
    </p:spTree>
    <p:extLst>
      <p:ext uri="{BB962C8B-B14F-4D97-AF65-F5344CB8AC3E}">
        <p14:creationId xmlns:p14="http://schemas.microsoft.com/office/powerpoint/2010/main" val="350773716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E2598689-54C9-18A7-3A19-ED76AA08988F}" type="slidenum">
              <a:rPr sz="900">
                <a:solidFill>
                  <a:srgbClr val="111111"/>
                </a:solidFill>
                <a:latin typeface="Helvetica Neue"/>
                <a:ea typeface="Helvetica Neue"/>
                <a:cs typeface="Helvetica Neue"/>
              </a:rPr>
              <a:t>2</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Three people. Three expensive problems.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 factory estimator</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“Which drawing is current, and what does the customer actually need?”</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AI prepares the quotation information.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 contractor and a technician</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“Will I get paid for this extra work?”</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AI prepares a change approval request.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“Where is the right repair guidance?”</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AI finds the relevant instructions.</a:t>
            </a:r>
          </a:p>
        </p:txBody>
      </p:sp>
    </p:spTree>
    <p:extLst>
      <p:ext uri="{BB962C8B-B14F-4D97-AF65-F5344CB8AC3E}">
        <p14:creationId xmlns:p14="http://schemas.microsoft.com/office/powerpoint/2010/main" val="3667182145"/>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202359C0-8A7A-196E-DD58-8E6569619F09}" type="slidenum">
              <a:rPr sz="900">
                <a:solidFill>
                  <a:srgbClr val="111111"/>
                </a:solidFill>
                <a:latin typeface="Helvetica Neue"/>
                <a:ea typeface="Helvetica Neue"/>
                <a:cs typeface="Helvetica Neue"/>
              </a:rPr>
              <a:t>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Idea 1: the factory quotation assistant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An example customer request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“Please make 500 metal brackets.”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drawing is in a PDF. Quantities are in Excel. A later email changes the material.</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expensive mistake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estimator uses the old material specification and sends the wrong price.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Proposed buyer: a small fabrication company handling frequent quotations.</a:t>
            </a:r>
          </a:p>
        </p:txBody>
      </p:sp>
    </p:spTree>
    <p:extLst>
      <p:ext uri="{BB962C8B-B14F-4D97-AF65-F5344CB8AC3E}">
        <p14:creationId xmlns:p14="http://schemas.microsoft.com/office/powerpoint/2010/main" val="3667182145"/>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EFD6AB9A-5F9E-5F59-51AB-3C8734130965}" type="slidenum">
              <a:rPr sz="900">
                <a:solidFill>
                  <a:srgbClr val="111111"/>
                </a:solidFill>
                <a:latin typeface="Helvetica Neue"/>
                <a:ea typeface="Helvetica Neue"/>
                <a:cs typeface="Helvetica Neue"/>
              </a:rPr>
              <a:t>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What the factory AI would produce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Information it receives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Drawing + quantities + customer email + previous quotations.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It reads the files, compares revisions and flags conflicting details.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Illustrative output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500 brackets. Latest drawing: version 3.</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Material grade: missing.</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Delivery date: 20 October.</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“Confirm the grade before pricing.”</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estimator checks every detail.</a:t>
            </a:r>
          </a:p>
        </p:txBody>
      </p:sp>
    </p:spTree>
    <p:extLst>
      <p:ext uri="{BB962C8B-B14F-4D97-AF65-F5344CB8AC3E}">
        <p14:creationId xmlns:p14="http://schemas.microsoft.com/office/powerpoint/2010/main" val="3667182145"/>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EE5B3003-2C54-13C6-9832-7637201064DE}" type="slidenum">
              <a:rPr sz="900">
                <a:solidFill>
                  <a:srgbClr val="111111"/>
                </a:solidFill>
                <a:latin typeface="Helvetica Neue"/>
                <a:ea typeface="Helvetica Neue"/>
                <a:cs typeface="Helvetica Neue"/>
              </a:rPr>
              <a:t>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Factory idea: business and first test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Why a factory might pay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Less time preparing quotations and fewer missed specifications.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Test offer: ₹5,000 for a small pilot.</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This price is a hypothesis.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test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Review 20 past requests with one estimator. Compare time and missed details.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Paperless Parts already serves this market. We need a specific reason for a local shop to choose us.</a:t>
            </a:r>
          </a:p>
        </p:txBody>
      </p:sp>
      <p:sp>
        <p:nvSpPr>
          <p:cNvPr id="534" name="">
            <a:extLst xmlns:a="http://schemas.openxmlformats.org/drawingml/2006/main">
              <a:ext uri="{FF2B5EF4-FFF2-40B4-BE49-F238E27FC236}">
                <a16:creationId xmlns:a16="http://schemas.microsoft.com/office/drawing/2014/main" id="{C0E18922-6B83-49A2-879C-B0D59366742E}"/>
              </a:ext>
            </a:extLst>
          </p:cNvPr>
          <p:cNvSpPr>
            <a:spLocks xmlns:a="http://schemas.openxmlformats.org/drawingml/2006/main" noGrp="1"/>
          </p:cNvSpPr>
          <p:nvPr/>
        </p:nvSpPr>
        <p:spPr>
          <a:xfrm xmlns:a="http://schemas.openxmlformats.org/drawingml/2006/main">
            <a:off x="400050" y="5838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111111"/>
                </a:solidFill>
                <a:latin typeface="Helvetica Neue"/>
                <a:ea typeface="Helvetica Neue"/>
                <a:cs typeface="Helvetica Neue"/>
              </a:defRPr>
            </a:pPr>
            <a:r>
              <a:rPr sz="1050">
                <a:solidFill>
                  <a:srgbClr val="111111"/>
                </a:solidFill>
                <a:latin typeface="Helvetica Neue"/>
                <a:ea typeface="Helvetica Neue"/>
                <a:cs typeface="Helvetica Neue"/>
              </a:rPr>
              <a:t>Sources: Paperless Parts: product and quotation workflow / Paperless Parts: quote preparation example. Links in speaker notes.</a:t>
            </a:r>
          </a:p>
        </p:txBody>
      </p:sp>
    </p:spTree>
    <p:extLst>
      <p:ext uri="{BB962C8B-B14F-4D97-AF65-F5344CB8AC3E}">
        <p14:creationId xmlns:p14="http://schemas.microsoft.com/office/powerpoint/2010/main" val="3667182145"/>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8C630A04-5A25-9E0C-9436-126091DB86B3}" type="slidenum">
              <a:rPr sz="900">
                <a:solidFill>
                  <a:srgbClr val="111111"/>
                </a:solidFill>
                <a:latin typeface="Helvetica Neue"/>
                <a:ea typeface="Helvetica Neue"/>
                <a:cs typeface="Helvetica Neue"/>
              </a:rPr>
              <a:t>6</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Idea 2: the construction change assistant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original agreement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An electrician agrees to install 50 lights.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At the site, the customer requests 10 more lights and five moved sockets.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payment problem</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team finishes the extra work. Later, the customer disputes the added bill.</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Proposed buyer: an electrical or interior contractor running several sites.</a:t>
            </a:r>
          </a:p>
        </p:txBody>
      </p:sp>
    </p:spTree>
    <p:extLst>
      <p:ext uri="{BB962C8B-B14F-4D97-AF65-F5344CB8AC3E}">
        <p14:creationId xmlns:p14="http://schemas.microsoft.com/office/powerpoint/2010/main" val="3667182145"/>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D3D7D1C8-AE23-AA48-DF65-C742588DBE47}" type="slidenum">
              <a:rPr sz="900">
                <a:solidFill>
                  <a:srgbClr val="111111"/>
                </a:solidFill>
                <a:latin typeface="Helvetica Neue"/>
                <a:ea typeface="Helvetica Neue"/>
                <a:cs typeface="Helvetica Neue"/>
              </a:rPr>
              <a:t>7</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What the construction AI would produce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Information it receives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Original quotation + site voice note + messages + photographs.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It compares the request with the agreement and flags a possible change.</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Illustrative output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“10 additional lights may be outside the agreed scope.”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It drafts a change request with evidence. The contractor adds the price and seeks approval before work starts.</a:t>
            </a:r>
          </a:p>
        </p:txBody>
      </p:sp>
    </p:spTree>
    <p:extLst>
      <p:ext uri="{BB962C8B-B14F-4D97-AF65-F5344CB8AC3E}">
        <p14:creationId xmlns:p14="http://schemas.microsoft.com/office/powerpoint/2010/main" val="3667182145"/>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BA58DA2A-B818-18A9-29C1-B697728D5BCE}" type="slidenum">
              <a:rPr sz="900">
                <a:solidFill>
                  <a:srgbClr val="111111"/>
                </a:solidFill>
                <a:latin typeface="Helvetica Neue"/>
                <a:ea typeface="Helvetica Neue"/>
                <a:cs typeface="Helvetica Neue"/>
              </a:rPr>
              <a:t>8</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Construction idea: business and first test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Why a contractor might pay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Fewer forgotten changes and clearer approval records.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Test offer: ₹3,000 for one project pilot.</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This price is a hypothesis.</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test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Review 10 past changes. Try the approval process on one active site.</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Clearstory and Powerplay already serve related work. Customer acceptance is the biggest unknown.</a:t>
            </a:r>
          </a:p>
        </p:txBody>
      </p:sp>
      <p:sp>
        <p:nvSpPr>
          <p:cNvPr id="534" name="">
            <a:extLst xmlns:a="http://schemas.openxmlformats.org/drawingml/2006/main">
              <a:ext uri="{FF2B5EF4-FFF2-40B4-BE49-F238E27FC236}">
                <a16:creationId xmlns:a16="http://schemas.microsoft.com/office/drawing/2014/main" id="{29B0AAFD-1425-461B-802B-4693363F0624}"/>
              </a:ext>
            </a:extLst>
          </p:cNvPr>
          <p:cNvSpPr>
            <a:spLocks xmlns:a="http://schemas.openxmlformats.org/drawingml/2006/main" noGrp="1"/>
          </p:cNvSpPr>
          <p:nvPr/>
        </p:nvSpPr>
        <p:spPr>
          <a:xfrm xmlns:a="http://schemas.openxmlformats.org/drawingml/2006/main">
            <a:off x="400050" y="5838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111111"/>
                </a:solidFill>
                <a:latin typeface="Helvetica Neue"/>
                <a:ea typeface="Helvetica Neue"/>
                <a:cs typeface="Helvetica Neue"/>
              </a:defRPr>
            </a:pPr>
            <a:r>
              <a:rPr sz="1050">
                <a:solidFill>
                  <a:srgbClr val="111111"/>
                </a:solidFill>
                <a:latin typeface="Helvetica Neue"/>
                <a:ea typeface="Helvetica Neue"/>
                <a:cs typeface="Helvetica Neue"/>
              </a:rPr>
              <a:t>Sources: Clearstory: construction change management / Powerplay: construction contract management. Links in speaker notes.</a:t>
            </a:r>
          </a:p>
        </p:txBody>
      </p:sp>
    </p:spTree>
    <p:extLst>
      <p:ext uri="{BB962C8B-B14F-4D97-AF65-F5344CB8AC3E}">
        <p14:creationId xmlns:p14="http://schemas.microsoft.com/office/powerpoint/2010/main" val="3667182145"/>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388657AE-30A1-5A7A-6A7F-315D84436430}" type="slidenum">
              <a:rPr sz="900">
                <a:solidFill>
                  <a:srgbClr val="111111"/>
                </a:solidFill>
                <a:latin typeface="Helvetica Neue"/>
                <a:ea typeface="Helvetica Neue"/>
                <a:cs typeface="Helvetica Neue"/>
              </a:rPr>
              <a:t>9</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Idea 3: the technician knowledge assistant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 junior technician is on site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machine displays an unfamiliar error. The technician searches PDFs and phones a senior colleague.</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Proposed buyer: an equipment service company.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first useful product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Identify the exact model and find the relevant manufacturer instructions.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Begin with one equipment family and a technician-reviewed set of manuals.</a:t>
            </a:r>
          </a:p>
        </p:txBody>
      </p:sp>
    </p:spTree>
    <p:extLst>
      <p:ext uri="{BB962C8B-B14F-4D97-AF65-F5344CB8AC3E}">
        <p14:creationId xmlns:p14="http://schemas.microsoft.com/office/powerpoint/2010/main" val="366718214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DB7BEEEC-A170-5376-2B6E-CB54687B0CB1}" type="slidenum">
              <a:rPr sz="900">
                <a:solidFill>
                  <a:srgbClr val="111111"/>
                </a:solidFill>
                <a:latin typeface="Helvetica Neue"/>
                <a:ea typeface="Helvetica Neue"/>
                <a:cs typeface="Helvetica Neue"/>
              </a:rPr>
              <a:t>10</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What the technician AI would produce</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Information it receives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Model label + error-code photo + symptoms + approved manual.</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It finds the matching instructions and asks for missing information.</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Illustrative output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“Confirm this model number. The relevant error-code table is on page 42.”</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It shows the source and drafts a service report. A qualified technician decides the next action.</a:t>
            </a:r>
          </a:p>
        </p:txBody>
      </p:sp>
    </p:spTree>
    <p:extLst>
      <p:ext uri="{BB962C8B-B14F-4D97-AF65-F5344CB8AC3E}">
        <p14:creationId xmlns:p14="http://schemas.microsoft.com/office/powerpoint/2010/main" val="3667182145"/>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30394428-F1DC-E5F6-DB0C-7DE31F3D8A23}" type="slidenum">
              <a:rPr sz="900">
                <a:solidFill>
                  <a:srgbClr val="111111"/>
                </a:solidFill>
                <a:latin typeface="Helvetica Neue"/>
                <a:ea typeface="Helvetica Neue"/>
                <a:cs typeface="Helvetica Neue"/>
              </a:rPr>
              <a:t>11</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Technician idea: business and first test</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Why a service company might pay</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Faster access to the right information and clearer service reports.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Pilot price: to test with the company after observing its workflow.</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The test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Five technicians try 20 historical questions. A senior technician checks every answer.</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XOi and MaintainX already offer related tools. Domain expertise is essential.</a:t>
            </a:r>
          </a:p>
        </p:txBody>
      </p:sp>
      <p:sp>
        <p:nvSpPr>
          <p:cNvPr id="534" name="">
            <a:extLst xmlns:a="http://schemas.openxmlformats.org/drawingml/2006/main">
              <a:ext uri="{FF2B5EF4-FFF2-40B4-BE49-F238E27FC236}">
                <a16:creationId xmlns:a16="http://schemas.microsoft.com/office/drawing/2014/main" id="{5BEF8715-78D4-4668-B3F6-EC048D2675CD}"/>
              </a:ext>
            </a:extLst>
          </p:cNvPr>
          <p:cNvSpPr>
            <a:spLocks xmlns:a="http://schemas.openxmlformats.org/drawingml/2006/main" noGrp="1"/>
          </p:cNvSpPr>
          <p:nvPr/>
        </p:nvSpPr>
        <p:spPr>
          <a:xfrm xmlns:a="http://schemas.openxmlformats.org/drawingml/2006/main">
            <a:off x="400050" y="5838825"/>
            <a:ext cx="10763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050">
                <a:solidFill>
                  <a:srgbClr val="111111"/>
                </a:solidFill>
                <a:latin typeface="Helvetica Neue"/>
                <a:ea typeface="Helvetica Neue"/>
                <a:cs typeface="Helvetica Neue"/>
              </a:defRPr>
            </a:pPr>
            <a:r>
              <a:rPr sz="1050">
                <a:solidFill>
                  <a:srgbClr val="111111"/>
                </a:solidFill>
                <a:latin typeface="Helvetica Neue"/>
                <a:ea typeface="Helvetica Neue"/>
                <a:cs typeface="Helvetica Neue"/>
              </a:rPr>
              <a:t>Sources: XOi: equipment information and guided field workflows / MaintainX: document-grounded maintenance assistance. Links in speaker notes.</a:t>
            </a:r>
          </a:p>
        </p:txBody>
      </p:sp>
    </p:spTree>
    <p:extLst>
      <p:ext uri="{BB962C8B-B14F-4D97-AF65-F5344CB8AC3E}">
        <p14:creationId xmlns:p14="http://schemas.microsoft.com/office/powerpoint/2010/main" val="3667182145"/>
      </p:ext>
    </p:extLst>
  </p:cSld>
</p:sld>
</file>

<file path=ppt/slides/slide12.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B8357537-167D-0462-A21D-DD8E87444BE4}"/>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27489CDA-073D-5D98-B832-86AD74222B71}"/>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4DB16885-0D3F-A391-B669-3211DB3B26E8}" type="slidenum">
              <a:rPr sz="900">
                <a:solidFill>
                  <a:srgbClr val="111111"/>
                </a:solidFill>
                <a:latin typeface="Helvetica Neue"/>
                <a:ea typeface="Helvetica Neue"/>
                <a:cs typeface="Helvetica Neue"/>
              </a:rPr>
              <a:t>12</a:t>
            </a:fld>
            <a:endParaRPr/>
          </a:p>
        </p:txBody>
      </p:sp>
      <p:sp>
        <p:nvSpPr>
          <p:cNvPr id="533" name="Google Shape;533;p58">
            <a:extLst xmlns:a="http://schemas.openxmlformats.org/drawingml/2006/main">
              <a:ext uri="{FF2B5EF4-FFF2-40B4-BE49-F238E27FC236}">
                <a16:creationId xmlns:a16="http://schemas.microsoft.com/office/drawing/2014/main" id="{08EBC4B8-BBC1-7C2A-F77D-BEC6394B0F93}"/>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Which idea fits us best?</a:t>
            </a:r>
          </a:p>
        </p:txBody>
      </p:sp>
      <p:sp>
        <p:nvSpPr>
          <p:cNvPr id="14" name="Content Placeholder 15">
            <a:extLst xmlns:a="http://schemas.openxmlformats.org/drawingml/2006/main">
              <a:ext uri="{FF2B5EF4-FFF2-40B4-BE49-F238E27FC236}">
                <a16:creationId xmlns:a16="http://schemas.microsoft.com/office/drawing/2014/main" id="{D81689CF-E5CF-3072-801D-DC2D321D4955}"/>
              </a:ext>
            </a:extLst>
          </p:cNvPr>
          <p:cNvSpPr>
            <a:spLocks xmlns:a="http://schemas.openxmlformats.org/drawingml/2006/main" noGrp="1"/>
          </p:cNvSpPr>
          <p:nvPr/>
        </p:nvSpPr>
        <p:spPr>
          <a:xfrm xmlns:a="http://schemas.openxmlformats.org/drawingml/2006/main">
            <a:off x="400939" y="1057501"/>
            <a:ext cx="11404599" cy="1012250"/>
          </a:xfrm>
          <a:prstGeom xmlns:a="http://schemas.openxmlformats.org/drawingml/2006/main" prst="rect">
            <a:avLst/>
          </a:prstGeom>
        </p:spPr>
        <p:txBody>
          <a:bodyPr xmlns:a="http://schemas.openxmlformats.org/drawingml/2006/main" vert="horz" lIns="0" tIns="0" rIns="0" bIns="0">
            <a:noAutofit/>
          </a:bodyPr>
          <a:lstStyle xmlns:a="http://schemas.openxmlformats.org/drawingml/2006/main">
            <a:lvl1pPr marL="0" indent="0" algn="l" defTabSz="914400">
              <a:lnSpc>
                <a:spcPct val="90000"/>
              </a:lnSpc>
              <a:spcBef>
                <a:spcPts val="1000"/>
              </a:spcBef>
              <a:spcAft>
                <a:spcPts val="800"/>
              </a:spcAft>
              <a:buFont typeface="Arial"/>
              <a:buNone/>
              <a:defRPr sz="1600" kern="1200">
                <a:solidFill>
                  <a:schemeClr val="tx1"/>
                </a:solidFill>
                <a:latin typeface="+mn-lt"/>
                <a:ea typeface="+mn-lt"/>
                <a:cs typeface="+mn-lt"/>
              </a:defRPr>
            </a:lvl1pPr>
            <a:lvl2pPr marL="4572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2pPr>
            <a:lvl3pPr marL="9144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3pPr>
            <a:lvl4pPr marL="13716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4pPr>
            <a:lvl5pPr marL="1828800" indent="0" algn="l" defTabSz="914400">
              <a:lnSpc>
                <a:spcPct val="90000"/>
              </a:lnSpc>
              <a:spcBef>
                <a:spcPts val="500"/>
              </a:spcBef>
              <a:spcAft>
                <a:spcPts val="800"/>
              </a:spcAft>
              <a:buFont typeface="Arial"/>
              <a:buNone/>
              <a:defRPr sz="16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a:lnSpc>
                <a:spcPct val="114000"/>
              </a:lnSpc>
              <a:spcBef>
                <a:spcPts val="0"/>
              </a:spcBef>
              <a:spcAft>
                <a:spcPts val="600"/>
              </a:spcAft>
              <a:buNone/>
              <a:defRPr sz="1800">
                <a:solidFill>
                  <a:srgbClr val="111111"/>
                </a:solidFill>
                <a:latin typeface="Helvetica Neue"/>
                <a:ea typeface="Helvetica Neue"/>
                <a:cs typeface="Helvetica Neue"/>
              </a:defRPr>
            </a:pPr>
            <a:r>
              <a:rPr sz="1800">
                <a:solidFill>
                  <a:srgbClr val="111111"/>
                </a:solidFill>
                <a:latin typeface="Helvetica Neue"/>
                <a:ea typeface="Helvetica Neue"/>
                <a:cs typeface="Helvetica Neue"/>
              </a:rPr>
              <a:t>Demand is unvalidated. *Technician scope: manual lookup, not automated diagnosis.</a:t>
            </a:r>
          </a:p>
        </p:txBody>
      </p:sp>
      <p:graphicFrame>
        <p:nvGraphicFramePr>
          <p:cNvPr id="539" name="Google Shape;644;p93"/>
          <p:cNvGraphicFramePr/>
          <p:nvPr/>
        </p:nvGraphicFramePr>
        <p:xfrm>
          <a:off xmlns:a="http://schemas.openxmlformats.org/drawingml/2006/main" x="393700" y="2251080"/>
          <a:ext xmlns:a="http://schemas.openxmlformats.org/drawingml/2006/main" cx="11404599" cy="3932614"/>
        </p:xfrm>
        <a:graphic xmlns:a="http://schemas.openxmlformats.org/drawingml/2006/main">
          <a:graphicData uri="http://schemas.openxmlformats.org/drawingml/2006/table">
            <a:tbl>
              <a:tblPr firstRow="1"/>
              <a:tblGrid>
                <a:gridCol w="3906063"/>
                <a:gridCol w="1874634"/>
                <a:gridCol w="1874634"/>
                <a:gridCol w="1874634"/>
                <a:gridCol w="1874634"/>
              </a:tblGrid>
              <a:tr h="437022">
                <a:tc>
                  <a:txBody>
                    <a:bodyPr/>
                    <a:lstStyle/>
                    <a:p>
                      <a:pPr marL="0" lvl="0" indent="0" algn="l">
                        <a:lnSpc>
                          <a:spcPct val="110000"/>
                        </a:lnSpc>
                        <a:spcBef>
                          <a:spcPts val="0"/>
                        </a:spcBef>
                        <a:spcAft>
                          <a:spcPts val="700"/>
                        </a:spcAft>
                        <a:buNone/>
                      </a:pPr>
                      <a:r>
                        <a:rPr sz="1425" b="1">
                          <a:solidFill>
                            <a:srgbClr val="111111"/>
                          </a:solidFill>
                          <a:latin typeface="Helvetica Neue"/>
                          <a:ea typeface="Helvetica Neue"/>
                          <a:cs typeface="Helvetica Neue"/>
                        </a:rPr>
                        <a:t>Decision</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25" b="1">
                          <a:solidFill>
                            <a:srgbClr val="111111"/>
                          </a:solidFill>
                          <a:latin typeface="Helvetica Neue"/>
                          <a:ea typeface="Helvetica Neue"/>
                          <a:cs typeface="Helvetica Neue"/>
                        </a:rPr>
                        <a:t>Factory</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None/>
                      </a:pPr>
                      <a:r>
                        <a:rPr sz="1425" b="1">
                          <a:solidFill>
                            <a:srgbClr val="111111"/>
                          </a:solidFill>
                          <a:latin typeface="Helvetica Neue"/>
                          <a:ea typeface="Helvetica Neue"/>
                          <a:cs typeface="Helvetica Neue"/>
                        </a:rPr>
                        <a:t>Construction</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25" b="1">
                          <a:solidFill>
                            <a:srgbClr val="111111"/>
                          </a:solidFill>
                          <a:latin typeface="Helvetica Neue"/>
                          <a:ea typeface="Helvetica Neue"/>
                          <a:cs typeface="Helvetica Neue"/>
                        </a:rPr>
                        <a:t>Technician</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c>
                  <a:txBody>
                    <a:bodyPr/>
                    <a:lstStyle/>
                    <a:p>
                      <a:pPr marL="0" lvl="0" indent="0" algn="l">
                        <a:lnSpc>
                          <a:spcPct val="110000"/>
                        </a:lnSpc>
                        <a:spcBef>
                          <a:spcPts val="0"/>
                        </a:spcBef>
                        <a:spcAft>
                          <a:spcPts val="700"/>
                        </a:spcAft>
                        <a:buClr>
                          <a:srgbClr val="000000"/>
                        </a:buClr>
                        <a:buSzPts val="1200"/>
                        <a:buFont typeface="Arial"/>
                        <a:buNone/>
                      </a:pPr>
                      <a:r>
                        <a:rPr sz="1425" b="1">
                          <a:solidFill>
                            <a:srgbClr val="111111"/>
                          </a:solidFill>
                          <a:latin typeface="Helvetica Neue"/>
                          <a:ea typeface="Helvetica Neue"/>
                          <a:cs typeface="Helvetica Neue"/>
                        </a:rPr>
                        <a:t>What matters</a:t>
                      </a:r>
                      <a:endParaRPr sz="1400" b="1">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9050" cmpd="sng">
                      <a:solidFill>
                        <a:srgbClr val="000000">
                          <a:alpha val="0"/>
                        </a:srgbClr>
                      </a:solidFill>
                      <a:prstDash val="solid"/>
                    </a:lnT>
                    <a:lnB w="9525" cmpd="sng">
                      <a:solidFill>
                        <a:srgbClr val="D1D2D3">
                          <a:alpha val="0"/>
                        </a:srgbClr>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Customer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Fabrication shop</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Trade contractor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Service company</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Actual buyer access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9525" cmpd="sng">
                      <a:solidFill>
                        <a:srgbClr val="D1D2D3">
                          <a:alpha val="0"/>
                        </a:srgbClr>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Useful output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Quote checklist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Approval request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Sourced guidance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Work completed</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First AI task</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Read and compare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Read and compare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Find and explain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Human verification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Demo clarity</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Good</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Very good</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Good</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Simple example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Build difficulty</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Medium–high</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Medium</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Medium*</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Narrow scope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Main obstacle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Drawing accuracy</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Approval adoption</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Correct guidance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Real-world test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Our judgment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Strong candidate</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Best first demo</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Needs expert partner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Access can reorder</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12700" cmpd="sng">
                      <a:solidFill>
                        <a:schemeClr val="tx1"/>
                      </a:solidFill>
                      <a:prstDash val="solid"/>
                    </a:lnB>
                  </a:tcPr>
                </a:tc>
              </a:tr>
              <a:tr h="436949">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Next commitment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Past RFQ files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Active site pilot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Approved manuals</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c>
                  <a:txBody>
                    <a:bodyPr/>
                    <a:lstStyle/>
                    <a:p>
                      <a:pPr marL="0" lvl="0" indent="0" algn="l">
                        <a:lnSpc>
                          <a:spcPct val="110000"/>
                        </a:lnSpc>
                        <a:spcBef>
                          <a:spcPts val="0"/>
                        </a:spcBef>
                        <a:spcAft>
                          <a:spcPts val="700"/>
                        </a:spcAft>
                        <a:buNone/>
                      </a:pPr>
                      <a:r>
                        <a:rPr sz="1425" b="0">
                          <a:solidFill>
                            <a:srgbClr val="111111"/>
                          </a:solidFill>
                          <a:latin typeface="Helvetica Neue"/>
                          <a:ea typeface="Helvetica Neue"/>
                          <a:cs typeface="Helvetica Neue"/>
                        </a:rPr>
                        <a:t>Paid pilot</a:t>
                      </a:r>
                      <a:endParaRPr sz="1400">
                        <a:solidFill>
                          <a:srgbClr val="000000"/>
                        </a:solidFill>
                        <a:latin typeface="+mn-lt"/>
                        <a:ea typeface="+mn-lt"/>
                        <a:cs typeface="+mn-lt"/>
                      </a:endParaRPr>
                    </a:p>
                  </a:txBody>
                  <a:tcPr marL="0" marR="0" marT="91425" marB="91425">
                    <a:lnL w="9525" cmpd="sng">
                      <a:solidFill>
                        <a:srgbClr val="9E9E9E">
                          <a:alpha val="0"/>
                        </a:srgbClr>
                      </a:solidFill>
                      <a:prstDash val="solid"/>
                    </a:lnL>
                    <a:lnR w="9525" cmpd="sng">
                      <a:solidFill>
                        <a:srgbClr val="9E9E9E">
                          <a:alpha val="0"/>
                        </a:srgbClr>
                      </a:solidFill>
                      <a:prstDash val="solid"/>
                    </a:lnR>
                    <a:lnT w="12700" cmpd="sng">
                      <a:solidFill>
                        <a:schemeClr val="tx1"/>
                      </a:solidFill>
                      <a:prstDash val="solid"/>
                    </a:lnT>
                    <a:lnB w="9525" cmpd="sng">
                      <a:solidFill>
                        <a:srgbClr val="9E9E9E">
                          <a:alpha val="0"/>
                        </a:srgbClr>
                      </a:solidFill>
                      <a:prstDash val="solid"/>
                    </a:lnB>
                  </a:tcPr>
                </a:tc>
              </a:tr>
            </a:tbl>
          </a:graphicData>
        </a:graphic>
      </p:graphicFrame>
    </p:spTree>
    <p:extLst>
      <p:ext uri="{BB962C8B-B14F-4D97-AF65-F5344CB8AC3E}">
        <p14:creationId xmlns:p14="http://schemas.microsoft.com/office/powerpoint/2010/main" val="329854879"/>
      </p:ext>
    </p:extLst>
  </p:cSld>
</p:sld>
</file>

<file path=ppt/slides/slide13.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2DD23107-4986-8758-3A93-3D74F35908CC}" type="slidenum">
              <a:rPr sz="900">
                <a:solidFill>
                  <a:srgbClr val="111111"/>
                </a:solidFill>
                <a:latin typeface="Helvetica Neue"/>
                <a:ea typeface="Helvetica Neue"/>
                <a:cs typeface="Helvetica Neue"/>
              </a:rPr>
              <a:t>13</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A two-week experiment before building</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Week 1: real examples</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Choose the idea with the easiest buyer access.</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Interview five businesses.</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Collect permissioned examples.</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Find out what they do and pay today.</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Week 2: useful work</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Prepare the result manually with AI assistance. Have the expert check it.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Ask for two paid pilots. Record time, errors and willingness to continue.</a:t>
            </a:r>
          </a:p>
        </p:txBody>
      </p:sp>
    </p:spTree>
    <p:extLst>
      <p:ext uri="{BB962C8B-B14F-4D97-AF65-F5344CB8AC3E}">
        <p14:creationId xmlns:p14="http://schemas.microsoft.com/office/powerpoint/2010/main" val="3667182145"/>
      </p:ext>
    </p:extLst>
  </p:cSld>
</p:sld>
</file>

<file path=ppt/slides/slide14.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327921A4-25C4-3DB4-06B1-32693CEE2241}" type="slidenum">
              <a:rPr sz="900">
                <a:solidFill>
                  <a:srgbClr val="111111"/>
                </a:solidFill>
                <a:latin typeface="Helvetica Neue"/>
                <a:ea typeface="Helvetica Neue"/>
                <a:cs typeface="Helvetica Neue"/>
              </a:rPr>
              <a:t>14</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Recommendation for our peer discussion</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Start with construction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It gives us a clear story and a small demonstration: original quote, site request, AI draft and customer review.</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This is a proposed experiment.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Choose by access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If we can reach factory owners more easily, test the factory idea first.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Which customer can our group introduce this week?</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Who will share a real example?</a:t>
            </a:r>
          </a:p>
        </p:txBody>
      </p:sp>
    </p:spTree>
    <p:extLst>
      <p:ext uri="{BB962C8B-B14F-4D97-AF65-F5344CB8AC3E}">
        <p14:creationId xmlns:p14="http://schemas.microsoft.com/office/powerpoint/2010/main" val="3667182145"/>
      </p:ext>
    </p:extLst>
  </p:cSld>
</p:sld>
</file>

<file path=ppt/slides/slide15.xml><?xml version="1.0" encoding="utf-8"?>
<p:sld xmlns:p="http://schemas.openxmlformats.org/presentationml/2006/main">
  <p:cSld>
    <p:spTree>
      <p:nvGrpSpPr>
        <p:cNvPr id="1" name=""/>
        <p:cNvGrpSpPr/>
        <p:nvPr/>
      </p:nvGrpSpPr>
      <p:grpSpPr>
        <a:xfrm xmlns:a="http://schemas.openxmlformats.org/drawingml/2006/main"/>
      </p:grpSpPr>
      <p:sp>
        <p:nvSpPr>
          <p:cNvPr id="3" name="Footer Placeholder 2">
            <a:extLst xmlns:a="http://schemas.openxmlformats.org/drawingml/2006/main">
              <a:ext uri="{FF2B5EF4-FFF2-40B4-BE49-F238E27FC236}">
                <a16:creationId xmlns:a16="http://schemas.microsoft.com/office/drawing/2014/main" id="{39EA4C82-C623-0196-4A95-876ADF5DEE92}"/>
              </a:ext>
            </a:extLst>
          </p:cNvPr>
          <p:cNvSpPr>
            <a:spLocks xmlns:a="http://schemas.openxmlformats.org/drawingml/2006/main" noGrp="1"/>
          </p:cNvSpPr>
          <p:nvPr>
            <p:ph type="ftr" idx="3"/>
          </p:nvPr>
        </p:nvSpPr>
        <p:spPr>
          <a:xfrm xmlns:a="http://schemas.openxmlformats.org/drawingml/2006/main">
            <a:off x="393700" y="6279952"/>
            <a:ext cx="3568700" cy="241240"/>
          </a:xfrm>
        </p:spPr>
        <p:txBody>
          <a:bodyPr xmlns:a="http://schemas.openxmlformats.org/drawingml/2006/main"/>
          <a:lstStyle xmlns:a="http://schemas.openxmlformats.org/drawingml/2006/main"/>
          <a:p xmlns:a="http://schemas.openxmlformats.org/drawingml/2006/main">
            <a:endParaRPr/>
          </a:p>
        </p:txBody>
      </p:sp>
      <p:sp>
        <p:nvSpPr>
          <p:cNvPr id="532" name="Google Shape;532;p58">
            <a:extLst xmlns:a="http://schemas.openxmlformats.org/drawingml/2006/main">
              <a:ext uri="{FF2B5EF4-FFF2-40B4-BE49-F238E27FC236}">
                <a16:creationId xmlns:a16="http://schemas.microsoft.com/office/drawing/2014/main" id="{1BCBE750-7048-686D-1472-52C53362D6CD}"/>
              </a:ext>
            </a:extLst>
          </p:cNvPr>
          <p:cNvSpPr>
            <a:spLocks xmlns:a="http://schemas.openxmlformats.org/drawingml/2006/main" noGrp="1"/>
          </p:cNvSpPr>
          <p:nvPr>
            <p:ph type="sldNum" idx="4"/>
          </p:nvPr>
        </p:nvSpPr>
        <p:spPr>
          <a:xfrm xmlns:a="http://schemas.openxmlformats.org/drawingml/2006/main">
            <a:off x="11279332" y="6279294"/>
            <a:ext cx="518968" cy="241240"/>
          </a:xfrm>
        </p:spPr>
        <p:txBody>
          <a:bodyPr xmlns:a="http://schemas.openxmlformats.org/drawingml/2006/main" spcFirstLastPara="1" vert="horz" wrap="square" lIns="0" tIns="0" rIns="0" bIns="0" anchor="b">
            <a:noAutofit/>
          </a:bodyPr>
          <a:lstStyle xmlns:a="http://schemas.openxmlformats.org/drawingml/2006/main"/>
          <a:p xmlns:a="http://schemas.openxmlformats.org/drawingml/2006/main">
            <a:pPr>
              <a:defRPr sz="900">
                <a:solidFill>
                  <a:srgbClr val="111111"/>
                </a:solidFill>
                <a:latin typeface="Helvetica Neue"/>
                <a:ea typeface="Helvetica Neue"/>
                <a:cs typeface="Helvetica Neue"/>
              </a:defRPr>
            </a:pPr>
            <a:fld id="{EA83FA91-883A-0168-8075-96CEB9DCA3C2}" type="slidenum">
              <a:rPr sz="900">
                <a:solidFill>
                  <a:srgbClr val="111111"/>
                </a:solidFill>
                <a:latin typeface="Helvetica Neue"/>
                <a:ea typeface="Helvetica Neue"/>
                <a:cs typeface="Helvetica Neue"/>
              </a:rPr>
              <a:t>15</a:t>
            </a:fld>
            <a:endParaRPr/>
          </a:p>
        </p:txBody>
      </p:sp>
      <p:sp>
        <p:nvSpPr>
          <p:cNvPr id="533" name="Google Shape;533;p58">
            <a:extLst xmlns:a="http://schemas.openxmlformats.org/drawingml/2006/main">
              <a:ext uri="{FF2B5EF4-FFF2-40B4-BE49-F238E27FC236}">
                <a16:creationId xmlns:a16="http://schemas.microsoft.com/office/drawing/2014/main" id="{1B5D55CD-1C17-7CD8-F26A-2DD65B067687}"/>
              </a:ext>
            </a:extLst>
          </p:cNvPr>
          <p:cNvSpPr>
            <a:spLocks xmlns:a="http://schemas.openxmlformats.org/drawingml/2006/main" noGrp="1"/>
          </p:cNvSpPr>
          <p:nvPr>
            <p:ph type="title" idx="0"/>
          </p:nvPr>
        </p:nvSpPr>
        <p:spPr>
          <a:xfrm xmlns:a="http://schemas.openxmlformats.org/drawingml/2006/main">
            <a:off x="393700" y="344008"/>
            <a:ext cx="11404600" cy="1047491"/>
          </a:xfrm>
        </p:spPr>
        <p:txBody>
          <a:bodyPr xmlns:a="http://schemas.openxmlformats.org/drawingml/2006/main" spcFirstLastPara="1" vert="horz" wrap="square" lIns="0" tIns="0" rIns="0" bIns="0" anchor="t">
            <a:noAutofit/>
          </a:bodyPr>
          <a:lstStyle xmlns:a="http://schemas.openxmlformats.org/drawingml/2006/main"/>
          <a:p xmlns:a="http://schemas.openxmlformats.org/drawingml/2006/main">
            <a:pPr>
              <a:defRPr sz="3000">
                <a:solidFill>
                  <a:srgbClr val="111111"/>
                </a:solidFill>
                <a:latin typeface="Helvetica Neue"/>
                <a:ea typeface="Helvetica Neue"/>
                <a:cs typeface="Helvetica Neue"/>
              </a:defRPr>
            </a:pPr>
            <a:r>
              <a:rPr sz="3000">
                <a:solidFill>
                  <a:srgbClr val="111111"/>
                </a:solidFill>
                <a:latin typeface="Helvetica Neue"/>
                <a:ea typeface="Helvetica Neue"/>
                <a:cs typeface="Helvetica Neue"/>
              </a:rPr>
              <a:t>Research references</a:t>
            </a:r>
          </a:p>
        </p:txBody>
      </p:sp>
      <p:sp>
        <p:nvSpPr>
          <p:cNvPr id="7" name="Google Shape;534;p58">
            <a:extLst xmlns:a="http://schemas.openxmlformats.org/drawingml/2006/main">
              <a:ext uri="{FF2B5EF4-FFF2-40B4-BE49-F238E27FC236}">
                <a16:creationId xmlns:a16="http://schemas.microsoft.com/office/drawing/2014/main" id="{3A923FEE-B8D2-CD3A-ABBD-21770B40AA24}"/>
              </a:ext>
            </a:extLst>
          </p:cNvPr>
          <p:cNvSpPr>
            <a:spLocks xmlns:a="http://schemas.openxmlformats.org/drawingml/2006/main" noGrp="1"/>
          </p:cNvSpPr>
          <p:nvPr/>
        </p:nvSpPr>
        <p:spPr>
          <a:xfrm xmlns:a="http://schemas.openxmlformats.org/drawingml/2006/main">
            <a:off x="393700" y="2031999"/>
            <a:ext cx="5537200" cy="3534787"/>
          </a:xfrm>
          <a:prstGeom xmlns:a="http://schemas.openxmlformats.org/drawingml/2006/main" prst="rect">
            <a:avLst/>
          </a:prstGeom>
        </p:spPr>
        <p:txBody>
          <a:bodyPr xmlns:a="http://schemas.openxmlformats.org/drawingml/2006/main" spcFirstLastPara="1" vert="horz" wrap="square" lIns="0" tIns="0" rIns="0" bIns="0" anchor="t">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Manufacturing and construction</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Paperless Parts: product overview and quote-preparation brief.</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Clearstory: change-order management.</a:t>
            </a:r>
          </a:p>
          <a:p xmlns:a="http://schemas.openxmlformats.org/drawingml/2006/main">
            <a:pPr marL="0" indent="0">
              <a:lnSpc>
                <a:spcPct val="114000"/>
              </a:lnSpc>
              <a:spcBef>
                <a:spcPts val="0"/>
              </a:spcBef>
              <a:spcAft>
                <a:spcPts val="800"/>
              </a:spcAft>
              <a:buFont typeface="Arial"/>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Powerplay: contract management.</a:t>
            </a:r>
          </a:p>
        </p:txBody>
      </p:sp>
      <p:sp>
        <p:nvSpPr>
          <p:cNvPr id="8" name="Content Placeholder 3">
            <a:extLst xmlns:a="http://schemas.openxmlformats.org/drawingml/2006/main">
              <a:ext uri="{FF2B5EF4-FFF2-40B4-BE49-F238E27FC236}">
                <a16:creationId xmlns:a16="http://schemas.microsoft.com/office/drawing/2014/main" id="{2EE8F343-A95F-2AAA-FE9E-A6C31E298DF7}"/>
              </a:ext>
            </a:extLst>
          </p:cNvPr>
          <p:cNvSpPr>
            <a:spLocks xmlns:a="http://schemas.openxmlformats.org/drawingml/2006/main" noGrp="1"/>
          </p:cNvSpPr>
          <p:nvPr/>
        </p:nvSpPr>
        <p:spPr>
          <a:xfrm xmlns:a="http://schemas.openxmlformats.org/drawingml/2006/main">
            <a:off x="6256618" y="2031999"/>
            <a:ext cx="5537200" cy="3534787"/>
          </a:xfrm>
          <a:prstGeom xmlns:a="http://schemas.openxmlformats.org/drawingml/2006/main" prst="rect">
            <a:avLst/>
          </a:prstGeom>
        </p:spPr>
        <p:txBody>
          <a:bodyPr xmlns:a="http://schemas.openxmlformats.org/drawingml/2006/main" lIns="0" tIns="0" rIns="0" bIns="0">
            <a:noAutofit/>
          </a:bodyPr>
          <a:lstStyle xmlns:a="http://schemas.openxmlformats.org/drawingml/2006/main">
            <a:lvl1pPr marL="228600" indent="-228600" algn="l" defTabSz="914400">
              <a:lnSpc>
                <a:spcPct val="90000"/>
              </a:lnSpc>
              <a:spcBef>
                <a:spcPts val="1000"/>
              </a:spcBef>
              <a:buFont typeface="Arial"/>
              <a:buChar char="•"/>
              <a:defRPr sz="24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0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18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a:lstStyle>
          <a:p xmlns:a="http://schemas.openxmlformats.org/drawingml/2006/main">
            <a:pPr marL="0" indent="0">
              <a:lnSpc>
                <a:spcPct val="114000"/>
              </a:lnSpc>
              <a:spcBef>
                <a:spcPts val="0"/>
              </a:spcBef>
              <a:spcAft>
                <a:spcPts val="800"/>
              </a:spcAft>
              <a:buFont typeface="Arial"/>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Technician support</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XOi: jobsite workflows and equipment information.</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MaintainX: maintenance assistance using uploaded documents.</a:t>
            </a:r>
          </a:p>
          <a:p xmlns:a="http://schemas.openxmlformats.org/drawingml/2006/main">
            <a:pPr marL="0" indent="0">
              <a:lnSpc>
                <a:spcPct val="114000"/>
              </a:lnSpc>
              <a:spcBef>
                <a:spcPts val="0"/>
              </a:spcBef>
              <a:spcAft>
                <a:spcPts val="800"/>
              </a:spcAft>
              <a:buNone/>
            </a:pPr>
            <a:r>
              <a:rPr sz="1600">
                <a:latin typeface="Helvetica Neue"/>
                <a:ea typeface="Helvetica Neue"/>
                <a:cs typeface="Helvetica Neue"/>
              </a:rPr>
              <a:t/>
            </a:r>
          </a:p>
          <a:p xmlns:a="http://schemas.openxmlformats.org/drawingml/2006/main">
            <a:pPr marL="0" indent="0">
              <a:lnSpc>
                <a:spcPct val="114000"/>
              </a:lnSpc>
              <a:spcBef>
                <a:spcPts val="0"/>
              </a:spcBef>
              <a:spcAft>
                <a:spcPts val="800"/>
              </a:spcAft>
              <a:buNone/>
              <a:defRPr sz="1950">
                <a:solidFill>
                  <a:srgbClr val="111111"/>
                </a:solidFill>
                <a:latin typeface="Helvetica Neue"/>
                <a:ea typeface="Helvetica Neue"/>
                <a:cs typeface="Helvetica Neue"/>
              </a:defRPr>
            </a:pPr>
            <a:r>
              <a:rPr sz="1950">
                <a:solidFill>
                  <a:srgbClr val="111111"/>
                </a:solidFill>
                <a:latin typeface="Helvetica Neue"/>
                <a:ea typeface="Helvetica Neue"/>
                <a:cs typeface="Helvetica Neue"/>
              </a:rPr>
              <a:t>Full clickable URLs are in the notes and companion guide.</a:t>
            </a:r>
          </a:p>
        </p:txBody>
      </p:sp>
    </p:spTree>
    <p:extLst>
      <p:ext uri="{BB962C8B-B14F-4D97-AF65-F5344CB8AC3E}">
        <p14:creationId xmlns:p14="http://schemas.microsoft.com/office/powerpoint/2010/main" val="3667182145"/>
      </p:ext>
    </p:extLst>
  </p:cSld>
</p:sld>
</file>

<file path=ppt/theme/theme1.xml><?xml version="1.0" encoding="utf-8"?>
<a:theme xmlns:a="http://schemas.openxmlformats.org/drawingml/2006/main" name="Default Codex Theme">
  <a:themeElements>
    <a:clrScheme name="Codex Colors">
      <a:dk1>
        <a:srgbClr val="000000"/>
      </a:dk1>
      <a:lt1>
        <a:srgbClr val="FFFFFF"/>
      </a:lt1>
      <a:dk2>
        <a:srgbClr val="00264F"/>
      </a:dk2>
      <a:lt2>
        <a:srgbClr val="D0EDFA"/>
      </a:lt2>
      <a:accent1>
        <a:srgbClr val="6DCBF4"/>
      </a:accent1>
      <a:accent2>
        <a:srgbClr val="3D8DFF"/>
      </a:accent2>
      <a:accent3>
        <a:srgbClr val="47E2C2"/>
      </a:accent3>
      <a:accent4>
        <a:srgbClr val="85DF7B"/>
      </a:accent4>
      <a:accent5>
        <a:srgbClr val="F7CB59"/>
      </a:accent5>
      <a:accent6>
        <a:srgbClr val="F67576"/>
      </a:accent6>
      <a:hlink>
        <a:srgbClr val="000000"/>
      </a:hlink>
      <a:folHlink>
        <a:srgbClr val="0097A7"/>
      </a:folHlink>
    </a:clrScheme>
    <a:fontScheme name="Helvetica Neue">
      <a:majorFont>
        <a:latin typeface="Helvetica Neue"/>
        <a:ea typeface=""/>
        <a:cs typeface=""/>
      </a:majorFont>
      <a:minorFont>
        <a:latin typeface="Helvetica Neue"/>
        <a:ea typeface=""/>
        <a:cs typeface=""/>
      </a:minorFont>
    </a:fontScheme>
    <a:fmtScheme name="Codex Colors">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2026-09-10T02:33:04.4970000Z</dcterms:created>
  <dcterms:modified xsi:type="dcterms:W3CDTF">2026-09-10T02:33:04.4970000Z</dcterms:modified>
</coreProperties>
</file>